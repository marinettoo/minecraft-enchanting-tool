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ca8472f9704c75" /><Relationship Type="http://schemas.openxmlformats.org/officeDocument/2006/relationships/extended-properties" Target="/docProps/app.xml" Id="Rd77381f5f8c14a02" /><Relationship Type="http://schemas.openxmlformats.org/officeDocument/2006/relationships/officeDocument" Target="/ppt/presentation.xml" Id="R0c25281b97a0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d4d6e1b34453c"/>
  </p:sldMasterIdLst>
  <p:notesMasterIdLst>
    <p:notesMasterId xmlns:r="http://schemas.openxmlformats.org/officeDocument/2006/relationships" r:id="R43bdcdccda154942"/>
  </p:notesMasterIdLst>
  <p:sldIdLst>
    <p:sldId xmlns:r="http://schemas.openxmlformats.org/officeDocument/2006/relationships" id="256" r:id="R1f8d1e494f7940b0"/>
    <p:sldId xmlns:r="http://schemas.openxmlformats.org/officeDocument/2006/relationships" id="257" r:id="Re3d80cfe99c84c22"/>
    <p:sldId xmlns:r="http://schemas.openxmlformats.org/officeDocument/2006/relationships" id="258" r:id="R17170168022541d7"/>
    <p:sldId xmlns:r="http://schemas.openxmlformats.org/officeDocument/2006/relationships" id="259" r:id="R334bd90eb3b74a09"/>
    <p:sldId xmlns:r="http://schemas.openxmlformats.org/officeDocument/2006/relationships" id="260" r:id="R02c7bff8902b48f6"/>
    <p:sldId xmlns:r="http://schemas.openxmlformats.org/officeDocument/2006/relationships" id="261" r:id="R836e7a5f81ec4ee0"/>
    <p:sldId xmlns:r="http://schemas.openxmlformats.org/officeDocument/2006/relationships" id="262" r:id="R6eb26562d4cf4d30"/>
    <p:sldId xmlns:r="http://schemas.openxmlformats.org/officeDocument/2006/relationships" id="263" r:id="R095dfe35bf2044a1"/>
    <p:sldId xmlns:r="http://schemas.openxmlformats.org/officeDocument/2006/relationships" id="264" r:id="Rbba44c0c6ea043e2"/>
    <p:sldId xmlns:r="http://schemas.openxmlformats.org/officeDocument/2006/relationships" id="265" r:id="Rf8fe694ac6fb492d"/>
    <p:sldId xmlns:r="http://schemas.openxmlformats.org/officeDocument/2006/relationships" id="266" r:id="Rd5b0ffb1b8f8487a"/>
    <p:sldId xmlns:r="http://schemas.openxmlformats.org/officeDocument/2006/relationships" id="267" r:id="R7b3e224064ac4d6e"/>
    <p:sldId xmlns:r="http://schemas.openxmlformats.org/officeDocument/2006/relationships" id="268" r:id="Rf01313c729a841a3"/>
    <p:sldId xmlns:r="http://schemas.openxmlformats.org/officeDocument/2006/relationships" id="269" r:id="Rd58ee42f3cda4ff1"/>
    <p:sldId xmlns:r="http://schemas.openxmlformats.org/officeDocument/2006/relationships" id="270" r:id="Ra14b31c731c84550"/>
    <p:sldId xmlns:r="http://schemas.openxmlformats.org/officeDocument/2006/relationships" id="271" r:id="R66f9e143f3484aae"/>
    <p:sldId xmlns:r="http://schemas.openxmlformats.org/officeDocument/2006/relationships" id="272" r:id="R4b60f3f425f34839"/>
    <p:sldId xmlns:r="http://schemas.openxmlformats.org/officeDocument/2006/relationships" id="273" r:id="Rc517b3b7f36a42a0"/>
    <p:sldId xmlns:r="http://schemas.openxmlformats.org/officeDocument/2006/relationships" id="274" r:id="R796c9fa818c44175"/>
    <p:sldId xmlns:r="http://schemas.openxmlformats.org/officeDocument/2006/relationships" id="275" r:id="R2714870f3a184fda"/>
    <p:sldId xmlns:r="http://schemas.openxmlformats.org/officeDocument/2006/relationships" id="276" r:id="R455688020e204ec4"/>
    <p:sldId xmlns:r="http://schemas.openxmlformats.org/officeDocument/2006/relationships" id="277" r:id="Re103ec24a21a468c"/>
    <p:sldId xmlns:r="http://schemas.openxmlformats.org/officeDocument/2006/relationships" id="278" r:id="Rb8d38be5639445ad"/>
    <p:sldId xmlns:r="http://schemas.openxmlformats.org/officeDocument/2006/relationships" id="279" r:id="Rc5afaed19a6d4e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7b27cf3a9422f" /><Relationship Type="http://schemas.openxmlformats.org/officeDocument/2006/relationships/slideMaster" Target="/ppt/slideMasters/slideMaster1.xml" Id="Re5ed4d6e1b34453c" /><Relationship Type="http://schemas.openxmlformats.org/officeDocument/2006/relationships/notesMaster" Target="/ppt/notesMasters/notesMaster1.xml" Id="R43bdcdccda154942" /><Relationship Type="http://schemas.openxmlformats.org/officeDocument/2006/relationships/presProps" Target="/ppt/presProps.xml" Id="R2b0f8305cf064be0" /><Relationship Type="http://schemas.openxmlformats.org/officeDocument/2006/relationships/tableStyles" Target="/ppt/tableStyles.xml" Id="R8f8a9dc2e9124508" /><Relationship Type="http://schemas.openxmlformats.org/officeDocument/2006/relationships/slide" Target="/ppt/slides/slide1.xml" Id="R1f8d1e494f7940b0" /><Relationship Type="http://schemas.openxmlformats.org/officeDocument/2006/relationships/slide" Target="/ppt/slides/slide2.xml" Id="Re3d80cfe99c84c22" /><Relationship Type="http://schemas.openxmlformats.org/officeDocument/2006/relationships/slide" Target="/ppt/slides/slide3.xml" Id="R17170168022541d7" /><Relationship Type="http://schemas.openxmlformats.org/officeDocument/2006/relationships/slide" Target="/ppt/slides/slide4.xml" Id="R334bd90eb3b74a09" /><Relationship Type="http://schemas.openxmlformats.org/officeDocument/2006/relationships/slide" Target="/ppt/slides/slide5.xml" Id="R02c7bff8902b48f6" /><Relationship Type="http://schemas.openxmlformats.org/officeDocument/2006/relationships/slide" Target="/ppt/slides/slide6.xml" Id="R836e7a5f81ec4ee0" /><Relationship Type="http://schemas.openxmlformats.org/officeDocument/2006/relationships/slide" Target="/ppt/slides/slide7.xml" Id="R6eb26562d4cf4d30" /><Relationship Type="http://schemas.openxmlformats.org/officeDocument/2006/relationships/slide" Target="/ppt/slides/slide8.xml" Id="R095dfe35bf2044a1" /><Relationship Type="http://schemas.openxmlformats.org/officeDocument/2006/relationships/slide" Target="/ppt/slides/slide9.xml" Id="Rbba44c0c6ea043e2" /><Relationship Type="http://schemas.openxmlformats.org/officeDocument/2006/relationships/slide" Target="/ppt/slides/slide10.xml" Id="Rf8fe694ac6fb492d" /><Relationship Type="http://schemas.openxmlformats.org/officeDocument/2006/relationships/slide" Target="/ppt/slides/slide11.xml" Id="Rd5b0ffb1b8f8487a" /><Relationship Type="http://schemas.openxmlformats.org/officeDocument/2006/relationships/slide" Target="/ppt/slides/slide12.xml" Id="R7b3e224064ac4d6e" /><Relationship Type="http://schemas.openxmlformats.org/officeDocument/2006/relationships/slide" Target="/ppt/slides/slide13.xml" Id="Rf01313c729a841a3" /><Relationship Type="http://schemas.openxmlformats.org/officeDocument/2006/relationships/slide" Target="/ppt/slides/slide14.xml" Id="Rd58ee42f3cda4ff1" /><Relationship Type="http://schemas.openxmlformats.org/officeDocument/2006/relationships/slide" Target="/ppt/slides/slide15.xml" Id="Ra14b31c731c84550" /><Relationship Type="http://schemas.openxmlformats.org/officeDocument/2006/relationships/slide" Target="/ppt/slides/slide16.xml" Id="R66f9e143f3484aae" /><Relationship Type="http://schemas.openxmlformats.org/officeDocument/2006/relationships/slide" Target="/ppt/slides/slide17.xml" Id="R4b60f3f425f34839" /><Relationship Type="http://schemas.openxmlformats.org/officeDocument/2006/relationships/slide" Target="/ppt/slides/slide18.xml" Id="Rc517b3b7f36a42a0" /><Relationship Type="http://schemas.openxmlformats.org/officeDocument/2006/relationships/slide" Target="/ppt/slides/slide19.xml" Id="R796c9fa818c44175" /><Relationship Type="http://schemas.openxmlformats.org/officeDocument/2006/relationships/slide" Target="/ppt/slides/slide20.xml" Id="R2714870f3a184fda" /><Relationship Type="http://schemas.openxmlformats.org/officeDocument/2006/relationships/slide" Target="/ppt/slides/slide21.xml" Id="R455688020e204ec4" /><Relationship Type="http://schemas.openxmlformats.org/officeDocument/2006/relationships/slide" Target="/ppt/slides/slide22.xml" Id="Re103ec24a21a468c" /><Relationship Type="http://schemas.openxmlformats.org/officeDocument/2006/relationships/slide" Target="/ppt/slides/slide23.xml" Id="Rb8d38be5639445ad" /><Relationship Type="http://schemas.openxmlformats.org/officeDocument/2006/relationships/slide" Target="/ppt/slides/slide24.xml" Id="Rc5afaed19a6d4e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c06382fbe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fe1320ec0845c2" /><Relationship Type="http://schemas.openxmlformats.org/officeDocument/2006/relationships/notesMaster" Target="/ppt/notesMasters/notesMaster1.xml" Id="R63972cca2cc6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f4ff0f80e4980" /><Relationship Type="http://schemas.openxmlformats.org/officeDocument/2006/relationships/notesMaster" Target="/ppt/notesMasters/notesMaster1.xml" Id="Rac19f2cde715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49a8ea66047b1" /><Relationship Type="http://schemas.openxmlformats.org/officeDocument/2006/relationships/notesMaster" Target="/ppt/notesMasters/notesMaster1.xml" Id="R424c88ff28f049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e59153de64a90" /><Relationship Type="http://schemas.openxmlformats.org/officeDocument/2006/relationships/notesMaster" Target="/ppt/notesMasters/notesMaster1.xml" Id="R63f241a3d3fc48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f31a613954ea0" /><Relationship Type="http://schemas.openxmlformats.org/officeDocument/2006/relationships/notesMaster" Target="/ppt/notesMasters/notesMaster1.xml" Id="R10f87c892727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ac6dfc1f4c4b60" /><Relationship Type="http://schemas.openxmlformats.org/officeDocument/2006/relationships/notesMaster" Target="/ppt/notesMasters/notesMaster1.xml" Id="Re463e90204f44a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b6841b40424ff6" /><Relationship Type="http://schemas.openxmlformats.org/officeDocument/2006/relationships/notesMaster" Target="/ppt/notesMasters/notesMaster1.xml" Id="Rad64bbda2f2b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1f7575fcfc4c86" /><Relationship Type="http://schemas.openxmlformats.org/officeDocument/2006/relationships/notesMaster" Target="/ppt/notesMasters/notesMaster1.xml" Id="R40e2d926d95b42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77df2875f4628" /><Relationship Type="http://schemas.openxmlformats.org/officeDocument/2006/relationships/notesMaster" Target="/ppt/notesMasters/notesMaster1.xml" Id="R33abe072aa5f4b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829fce111b451e" /><Relationship Type="http://schemas.openxmlformats.org/officeDocument/2006/relationships/notesMaster" Target="/ppt/notesMasters/notesMaster1.xml" Id="R35a72302a44d40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6dd3c0b43143ae" /><Relationship Type="http://schemas.openxmlformats.org/officeDocument/2006/relationships/notesMaster" Target="/ppt/notesMasters/notesMaster1.xml" Id="Ra9a772995c7f4f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43c779adfa4f28" /><Relationship Type="http://schemas.openxmlformats.org/officeDocument/2006/relationships/notesMaster" Target="/ppt/notesMasters/notesMaster1.xml" Id="R559d0859d5b448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3e54b3d43d4577" /><Relationship Type="http://schemas.openxmlformats.org/officeDocument/2006/relationships/notesMaster" Target="/ppt/notesMasters/notesMaster1.xml" Id="R018e24083e7e42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bc10ddd19d4233" /><Relationship Type="http://schemas.openxmlformats.org/officeDocument/2006/relationships/notesMaster" Target="/ppt/notesMasters/notesMaster1.xml" Id="Rf831a300d75049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4df9f952844db7" /><Relationship Type="http://schemas.openxmlformats.org/officeDocument/2006/relationships/notesMaster" Target="/ppt/notesMasters/notesMaster1.xml" Id="R696a8ef59ec745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789b2187c44f80" /><Relationship Type="http://schemas.openxmlformats.org/officeDocument/2006/relationships/notesMaster" Target="/ppt/notesMasters/notesMaster1.xml" Id="R433a2b1b836540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d0298e937a4cd2" /><Relationship Type="http://schemas.openxmlformats.org/officeDocument/2006/relationships/notesMaster" Target="/ppt/notesMasters/notesMaster1.xml" Id="Rd43888dc36f64a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e26fda8424075" /><Relationship Type="http://schemas.openxmlformats.org/officeDocument/2006/relationships/notesMaster" Target="/ppt/notesMasters/notesMaster1.xml" Id="Rcc1c7c50b22f4e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a66a4ce0644dc7" /><Relationship Type="http://schemas.openxmlformats.org/officeDocument/2006/relationships/notesMaster" Target="/ppt/notesMasters/notesMaster1.xml" Id="R1640633277a744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20d408372a4d41" /><Relationship Type="http://schemas.openxmlformats.org/officeDocument/2006/relationships/notesMaster" Target="/ppt/notesMasters/notesMaster1.xml" Id="R2bb932fa2e2a4e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fdbca91fea4fdb" /><Relationship Type="http://schemas.openxmlformats.org/officeDocument/2006/relationships/notesMaster" Target="/ppt/notesMasters/notesMaster1.xml" Id="Rbde882726e6f40a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e8cf9ed9df45ba" /><Relationship Type="http://schemas.openxmlformats.org/officeDocument/2006/relationships/notesMaster" Target="/ppt/notesMasters/notesMaster1.xml" Id="R709c56ee93fc41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b01483da5945a6" /><Relationship Type="http://schemas.openxmlformats.org/officeDocument/2006/relationships/notesMaster" Target="/ppt/notesMasters/notesMaster1.xml" Id="Rf069a9590cf140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2e463611cb493f" /><Relationship Type="http://schemas.openxmlformats.org/officeDocument/2006/relationships/notesMaster" Target="/ppt/notesMasters/notesMaster1.xml" Id="R9932de4138e5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App 1. Integrantes y reparto según la versión del README consultada anteriormente: Jesús, frontend; Hugo, backend. Referencia de organización temática: C:/Users/Clase/Downloads/FitAdapt-AI-Presentacion.pdf. Diseño y contenido propios de MeT. No cubre App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estructura temática adapta la referencia FitAdapt: proyecto, arquitectura, código, calidad y despliegue. Los diagramas se limitan a los que explican MeT.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interfaz pública https://met-frontend-zeta.vercel.app/ consultada el 13/10/2026. Esta captura muestra la pantalla inicial, no acredita una respuesta real de IA. Contrato: docs/contrato-api.md.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app1/frontend/src/App.vue, main.py, schemas.py y ai_client.py. La secuencia describe el modo real con configuración válida.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docs/contrato-api.md y schemas.py. Entrada ilustrativa válida. No se inventa una salida numérica ni se presenta una respuesta simulada como evidencia de IA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enunciado de la práctica PR01-UD1, apartados de App 1. No se atribuyen al proyecto TypeScript, Vitest, Clerk ni funciones de la referencia que no aparecen en esta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app1/backend/requirements.txt, requirements-dev.txt, app1/frontend/package.json. Las versiones frontend son rangos declarados, no una comprobación del entorno instalado.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inventario local del 13/10/2026. Se muestran archivos presentes. Se excluyen entornos virtuales, cachés y otras carpetas auxiliares. La ERS no está presente en esta copia local aunque se preparó en una sesión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archivos actuales de app1/backend. Todas las referencias son relativas a esa carpeta.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enunciado, contrato-api.md y código. Resumen del alcance funcional, sin afirmar que una prueba real del proveedor se haya realizado durante esta preparación.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rules.py y schemas.py consultados el 13/10/2026. El backend contiene 58 objetos, 39 encantamientos y 8 conjuntos de incompatibilidad. No implica catálogo exhaustivo de Minecraft. El frontend local conserva 6 objetos y 17 encantamientos.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schemas.py, ProcessResponse y validate_plan. El número de pasos coincide con los libros y los recursos se consumen una sola vez. La suma se valida, pero los costes del juego y la optimalidad no se recalculan.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config.py, main.py, ai_client.py, App.vue y enunciado. La ausencia de persistencia es requisito. Los logs actuales contienen fragmentos de respuesta y planes rechazados, por lo que esa parte requiere corrección. No se afirma invulnerabilidad a inyección.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main.py, App.vue y ai_client.py. Diagrama de arquitectura, no UML formal. La configuración pública conecta dos orígenes de Vercel y CORS debe autorizar el del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docs/diagramas/secuencia-procesamiento.md y código del backend. Versión resumida para proyección. Requiere modo real y configuración válida. Fallos de conexión los detecta el cliente que inicia la consulta, no implican una respuesta del servidor remoto.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main.py y ai_client.py. No existe endpoint de autenticación de App 1. El 429 remoto se transforma en 502 IA_NO_DISPONIBLE. Un timeout no es una respuesta del proveedor.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app1/frontend/src/App.vue. Estados literales entrada, espera, resultado y error. La UI local bloquea el botón durante la espera; no se afirma que todos los controles queden bloqueados.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ai_client.py. Modelo configurable mediante OPENROUTER_MODEL. El modelo publicado no se verifica desde una captura del frontend. No se fija un nombre que pueda corresponder a otra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local del 13/10/2026: python -m pytest tests/test_backend.py -q, 46 passed, 1 warning in 0.44s. Warning de deprecación de AnyIO/Starlette. Todos los transportes IA están simulados. No se acredita con ello un ensayo del modelo real ni del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config.py y App.vue. No se ha leído ni incorporado una clave real. El frontend local mantiene USAR_RESPUESTA_FALSA=true; confirmar la revisión de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estructura actual, pytest.ini y scripts de package.json. Comandos desde la carpeta indicada, una vez instaladas las dependencias. En frontend no se encuentra un script npm test ni TypeScript.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URLs del README consultado antes del cambio de copia local, vercel.json y captura pública del 13/10/2026. Se comprobó acceso al frontend. No se ejecutó una consulta IA de producción ni se acreditó la configuración remota del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inspección local del 13/10/2026 y README con conflicto de fusión visible. No se han resuelto conflictos ni modificado código durante la elaboración. Faltan en esta copia docs/ERS.md, pruebas.md, uso-ia.md y despliegue.md aunque haya referencias o trabajo previo.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código, tests ejecutados y captura pública. La presentación se centra solo en App 1. No se declara exactitud matemática de los costes ni una prueba real de IA realizada en esta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c06ab8d994a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94399737c4f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a5feb1f9549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14284d5c64d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7eed5eb244e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71221c605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2D1E34-7D3C-4831-861A-8FE29DA72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E67404-794C-440F-BF46-DEE03F7E21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E53B61-43B8-48B2-A7F1-ED827441E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545CC-8642-4B71-8A4F-ECE4DDC38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4E5BF8-7A7E-4B06-A8B8-FCDDB304D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85462E-FE42-446F-8ABE-C9EE00F3C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CA7DA9-A42E-4C86-AEB3-543F3263E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FAA55C-FA0E-4DAD-A888-88422BDBF6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3B317C-3B9B-47FE-81BB-12DAD89B9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712DD4-4783-4440-934A-799955447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6fa582267246e0" /><Relationship Type="http://schemas.openxmlformats.org/officeDocument/2006/relationships/slideLayout" Target="/ppt/slideLayouts/slideLayout1.xml" Id="R3c15d40d09684b63" /><Relationship Type="http://schemas.openxmlformats.org/officeDocument/2006/relationships/slideLayout" Target="/ppt/slideLayouts/slideLayout2.xml" Id="R04b10b5e61cf4aa2" /><Relationship Type="http://schemas.openxmlformats.org/officeDocument/2006/relationships/slideLayout" Target="/ppt/slideLayouts/slideLayout3.xml" Id="Rdf0029238b7f4bf3" /><Relationship Type="http://schemas.openxmlformats.org/officeDocument/2006/relationships/slideLayout" Target="/ppt/slideLayouts/slideLayout4.xml" Id="Rd1876d4bf27346e2" /><Relationship Type="http://schemas.openxmlformats.org/officeDocument/2006/relationships/slideLayout" Target="/ppt/slideLayouts/slideLayout5.xml" Id="R5afde706d33f4b27" /><Relationship Type="http://schemas.openxmlformats.org/officeDocument/2006/relationships/slideLayout" Target="/ppt/slideLayouts/slideLayout6.xml" Id="Rddba8a3a71bb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5d40d09684b63"/>
    <p:sldLayoutId xmlns:r="http://schemas.openxmlformats.org/officeDocument/2006/relationships" id="2147483650" r:id="R04b10b5e61cf4aa2"/>
    <p:sldLayoutId xmlns:r="http://schemas.openxmlformats.org/officeDocument/2006/relationships" id="2147483651" r:id="Rdf0029238b7f4bf3"/>
    <p:sldLayoutId xmlns:r="http://schemas.openxmlformats.org/officeDocument/2006/relationships" id="2147483652" r:id="Rd1876d4bf27346e2"/>
    <p:sldLayoutId xmlns:r="http://schemas.openxmlformats.org/officeDocument/2006/relationships" id="2147483653" r:id="R5afde706d33f4b27"/>
    <p:sldLayoutId xmlns:r="http://schemas.openxmlformats.org/officeDocument/2006/relationships" id="2147483654" r:id="Rddba8a3a71bb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15866d602496d" /><Relationship Type="http://schemas.openxmlformats.org/officeDocument/2006/relationships/notesSlide" Target="/ppt/notesSlides/notesSlide1.xml" Id="R130213404de5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3df28d65a453b" /><Relationship Type="http://schemas.openxmlformats.org/officeDocument/2006/relationships/notesSlide" Target="/ppt/notesSlides/notesSlide2.xml" Id="Re58231153637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96dc9f8d340bc" /><Relationship Type="http://schemas.openxmlformats.org/officeDocument/2006/relationships/image" Target="/ppt/media/image.jpeg" Id="R7363e310828b4255" /><Relationship Type="http://schemas.openxmlformats.org/officeDocument/2006/relationships/notesSlide" Target="/ppt/notesSlides/notesSlide3.xml" Id="Ra73c0c346a0742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23f1256b3404c" /><Relationship Type="http://schemas.openxmlformats.org/officeDocument/2006/relationships/notesSlide" Target="/ppt/notesSlides/notesSlide4.xml" Id="Rbad15c7dfd96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e549daf054ff7" /><Relationship Type="http://schemas.openxmlformats.org/officeDocument/2006/relationships/notesSlide" Target="/ppt/notesSlides/notesSlide5.xml" Id="R69669dd396a54e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5b9bce51745c8" /><Relationship Type="http://schemas.openxmlformats.org/officeDocument/2006/relationships/notesSlide" Target="/ppt/notesSlides/notesSlide6.xml" Id="Rb7714ca35e87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e0c1c638b4254" /><Relationship Type="http://schemas.openxmlformats.org/officeDocument/2006/relationships/notesSlide" Target="/ppt/notesSlides/notesSlide7.xml" Id="R1c522a7932da41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d97a3b92d4a68" /><Relationship Type="http://schemas.openxmlformats.org/officeDocument/2006/relationships/notesSlide" Target="/ppt/notesSlides/notesSlide8.xml" Id="R7c3a8522474d45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ab1acd1ab4cf2" /><Relationship Type="http://schemas.openxmlformats.org/officeDocument/2006/relationships/notesSlide" Target="/ppt/notesSlides/notesSlide9.xml" Id="R1a03bf7b808845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16f6f26d24b46" /><Relationship Type="http://schemas.openxmlformats.org/officeDocument/2006/relationships/notesSlide" Target="/ppt/notesSlides/notesSlide10.xml" Id="R6fd0931de2f8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9e660425c45fd" /><Relationship Type="http://schemas.openxmlformats.org/officeDocument/2006/relationships/notesSlide" Target="/ppt/notesSlides/notesSlide11.xml" Id="R34384129a26d40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377e030a149c7" /><Relationship Type="http://schemas.openxmlformats.org/officeDocument/2006/relationships/notesSlide" Target="/ppt/notesSlides/notesSlide12.xml" Id="R11586153b09e47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d50a871d8410a" /><Relationship Type="http://schemas.openxmlformats.org/officeDocument/2006/relationships/notesSlide" Target="/ppt/notesSlides/notesSlide13.xml" Id="R85991d62d68441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58a7a5fc943c2" /><Relationship Type="http://schemas.openxmlformats.org/officeDocument/2006/relationships/notesSlide" Target="/ppt/notesSlides/notesSlide14.xml" Id="R2964a046231b44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498a97a244fd7" /><Relationship Type="http://schemas.openxmlformats.org/officeDocument/2006/relationships/notesSlide" Target="/ppt/notesSlides/notesSlide15.xml" Id="Ra8cfca1a0eac4c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e1efda43b4514" /><Relationship Type="http://schemas.openxmlformats.org/officeDocument/2006/relationships/notesSlide" Target="/ppt/notesSlides/notesSlide16.xml" Id="R88c5abe2adcc44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aaf763c47430c" /><Relationship Type="http://schemas.openxmlformats.org/officeDocument/2006/relationships/notesSlide" Target="/ppt/notesSlides/notesSlide17.xml" Id="Rd85e6561567246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e6b82f32d4529" /><Relationship Type="http://schemas.openxmlformats.org/officeDocument/2006/relationships/notesSlide" Target="/ppt/notesSlides/notesSlide18.xml" Id="R1bc965908b234f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a3940cc274b75" /><Relationship Type="http://schemas.openxmlformats.org/officeDocument/2006/relationships/notesSlide" Target="/ppt/notesSlides/notesSlide19.xml" Id="R9e34e8fe701640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7d0c82a694afc" /><Relationship Type="http://schemas.openxmlformats.org/officeDocument/2006/relationships/notesSlide" Target="/ppt/notesSlides/notesSlide20.xml" Id="R3b8ef0c9007749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1181d5bee41f3" /><Relationship Type="http://schemas.openxmlformats.org/officeDocument/2006/relationships/notesSlide" Target="/ppt/notesSlides/notesSlide21.xml" Id="Rb851736ee3b242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3a112ede54f89" /><Relationship Type="http://schemas.openxmlformats.org/officeDocument/2006/relationships/notesSlide" Target="/ppt/notesSlides/notesSlide22.xml" Id="Rcc94e4542a4b4a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b1a61ffd641a0" /><Relationship Type="http://schemas.openxmlformats.org/officeDocument/2006/relationships/notesSlide" Target="/ppt/notesSlides/notesSlide23.xml" Id="R8fc0dc2ce90047d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57f44a28b48a4" /><Relationship Type="http://schemas.openxmlformats.org/officeDocument/2006/relationships/notesSlide" Target="/ppt/notesSlides/notesSlide24.xml" Id="R2806654c373a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-8tncgz-0">
            <a:extLst xmlns:a="http://schemas.openxmlformats.org/drawingml/2006/main">
              <a:ext uri="{FF2B5EF4-FFF2-40B4-BE49-F238E27FC236}">
                <a16:creationId xmlns:a16="http://schemas.microsoft.com/office/drawing/2014/main" id="{4292EEF9-D871-4DAF-9470-A49B7D0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PROYECTO 01 / APLICACIÓN 1</a:t>
            </a:r>
          </a:p>
        </p:txBody>
      </p:sp>
      <p:sp>
        <p:nvSpPr>
          <p:cNvPr id="2" name="texto-8tncgz-1">
            <a:extLst xmlns:a="http://schemas.openxmlformats.org/drawingml/2006/main">
              <a:ext uri="{FF2B5EF4-FFF2-40B4-BE49-F238E27FC236}">
                <a16:creationId xmlns:a16="http://schemas.microsoft.com/office/drawing/2014/main" id="{6A5702E3-5256-4CF3-A987-9527BA5E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</a:t>
            </a:r>
          </a:p>
        </p:txBody>
      </p:sp>
      <p:sp>
        <p:nvSpPr>
          <p:cNvPr id="3" name="texto-8tncgz-2">
            <a:extLst xmlns:a="http://schemas.openxmlformats.org/drawingml/2006/main">
              <a:ext uri="{FF2B5EF4-FFF2-40B4-BE49-F238E27FC236}">
                <a16:creationId xmlns:a16="http://schemas.microsoft.com/office/drawing/2014/main" id="{7F84EDDE-852B-4125-A825-07EFAD7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pPr>
            <a:r>
              <a:rPr sz="3450" b="0">
                <a:solidFill>
                  <a:srgbClr val="D7B98F"/>
                </a:solidFill>
                <a:latin typeface="Calibri"/>
                <a:ea typeface="Calibri"/>
                <a:cs typeface="Calibri"/>
              </a:rPr>
              <a:t>Minecraft Enchanting Tool</a:t>
            </a:r>
          </a:p>
        </p:txBody>
      </p:sp>
      <p:sp>
        <p:nvSpPr>
          <p:cNvPr id="4" name="texto-8tncgz-3">
            <a:extLst xmlns:a="http://schemas.openxmlformats.org/drawingml/2006/main">
              <a:ext uri="{FF2B5EF4-FFF2-40B4-BE49-F238E27FC236}">
                <a16:creationId xmlns:a16="http://schemas.microsoft.com/office/drawing/2014/main" id="{D26D2D82-4C53-40F9-BED8-EB2F2F3D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Planificación de combinaciones en el yunque con IA</a:t>
            </a:r>
          </a:p>
        </p:txBody>
      </p:sp>
      <p:sp>
        <p:nvSpPr>
          <p:cNvPr id="5" name="texto-8tncgz-4">
            <a:extLst xmlns:a="http://schemas.openxmlformats.org/drawingml/2006/main">
              <a:ext uri="{FF2B5EF4-FFF2-40B4-BE49-F238E27FC236}">
                <a16:creationId xmlns:a16="http://schemas.microsoft.com/office/drawing/2014/main" id="{B3A4C082-2992-41A8-BA78-1032DDD2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Jesús Pérez Marinetto  /  Hugo Cáceres</a:t>
            </a:r>
          </a:p>
        </p:txBody>
      </p:sp>
      <p:sp>
        <p:nvSpPr>
          <p:cNvPr id="6" name="texto-8tncgz-5">
            <a:extLst xmlns:a="http://schemas.openxmlformats.org/drawingml/2006/main">
              <a:ext uri="{FF2B5EF4-FFF2-40B4-BE49-F238E27FC236}">
                <a16:creationId xmlns:a16="http://schemas.microsoft.com/office/drawing/2014/main" id="{47AF9C45-95C8-44D6-A675-CF24250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13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25797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mw79n2-0">
            <a:extLst xmlns:a="http://schemas.openxmlformats.org/drawingml/2006/main">
              <a:ext uri="{FF2B5EF4-FFF2-40B4-BE49-F238E27FC236}">
                <a16:creationId xmlns:a16="http://schemas.microsoft.com/office/drawing/2014/main" id="{98299A4F-C4DA-43C9-ABF1-752533F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RECORRIDO</a:t>
            </a:r>
          </a:p>
        </p:txBody>
      </p:sp>
      <p:sp>
        <p:nvSpPr>
          <p:cNvPr id="2" name="texto-mw79n2-1">
            <a:extLst xmlns:a="http://schemas.openxmlformats.org/drawingml/2006/main">
              <a:ext uri="{FF2B5EF4-FFF2-40B4-BE49-F238E27FC236}">
                <a16:creationId xmlns:a16="http://schemas.microsoft.com/office/drawing/2014/main" id="{12B36C95-D8C3-4947-ACDB-2EE24BE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Contenido</a:t>
            </a:r>
          </a:p>
        </p:txBody>
      </p:sp>
      <p:sp>
        <p:nvSpPr>
          <p:cNvPr id="3" name="texto-mw79n2-2">
            <a:extLst xmlns:a="http://schemas.openxmlformats.org/drawingml/2006/main">
              <a:ext uri="{FF2B5EF4-FFF2-40B4-BE49-F238E27FC236}">
                <a16:creationId xmlns:a16="http://schemas.microsoft.com/office/drawing/2014/main" id="{40FA2BC4-D5FB-4B88-A438-82EB1E6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mw79n2-3">
            <a:extLst xmlns:a="http://schemas.openxmlformats.org/drawingml/2006/main">
              <a:ext uri="{FF2B5EF4-FFF2-40B4-BE49-F238E27FC236}">
                <a16:creationId xmlns:a16="http://schemas.microsoft.com/office/drawing/2014/main" id="{8E05D681-438F-430B-9783-EFC9905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texto-mw79n2-4">
            <a:extLst xmlns:a="http://schemas.openxmlformats.org/drawingml/2006/main">
              <a:ext uri="{FF2B5EF4-FFF2-40B4-BE49-F238E27FC236}">
                <a16:creationId xmlns:a16="http://schemas.microsoft.com/office/drawing/2014/main" id="{0AD3CD77-3801-45DE-B742-A9ECDE73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01  Proyecto</a:t>
            </a:r>
          </a:p>
        </p:txBody>
      </p:sp>
      <p:sp>
        <p:nvSpPr>
          <p:cNvPr id="6" name="texto-mw79n2-5">
            <a:extLst xmlns:a="http://schemas.openxmlformats.org/drawingml/2006/main">
              <a:ext uri="{FF2B5EF4-FFF2-40B4-BE49-F238E27FC236}">
                <a16:creationId xmlns:a16="http://schemas.microsoft.com/office/drawing/2014/main" id="{2FC15451-7043-4E0C-B425-38B54CB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Necesidad, funcionamiento y ejemplo de petición</a:t>
            </a:r>
          </a:p>
        </p:txBody>
      </p:sp>
      <p:sp>
        <p:nvSpPr>
          <p:cNvPr id="7" name="texto-mw79n2-6">
            <a:extLst xmlns:a="http://schemas.openxmlformats.org/drawingml/2006/main">
              <a:ext uri="{FF2B5EF4-FFF2-40B4-BE49-F238E27FC236}">
                <a16:creationId xmlns:a16="http://schemas.microsoft.com/office/drawing/2014/main" id="{D51447A4-24F7-44A1-BDCB-2873118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02  Código y contrato</a:t>
            </a:r>
          </a:p>
        </p:txBody>
      </p:sp>
      <p:sp>
        <p:nvSpPr>
          <p:cNvPr id="8" name="texto-mw79n2-7">
            <a:extLst xmlns:a="http://schemas.openxmlformats.org/drawingml/2006/main">
              <a:ext uri="{FF2B5EF4-FFF2-40B4-BE49-F238E27FC236}">
                <a16:creationId xmlns:a16="http://schemas.microsoft.com/office/drawing/2014/main" id="{0BCF037C-9EDC-4095-8A19-36B11B22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Tecnologías, archivos, validaciones y respuesta</a:t>
            </a:r>
          </a:p>
        </p:txBody>
      </p:sp>
      <p:sp>
        <p:nvSpPr>
          <p:cNvPr id="9" name="texto-mw79n2-8">
            <a:extLst xmlns:a="http://schemas.openxmlformats.org/drawingml/2006/main">
              <a:ext uri="{FF2B5EF4-FFF2-40B4-BE49-F238E27FC236}">
                <a16:creationId xmlns:a16="http://schemas.microsoft.com/office/drawing/2014/main" id="{F8D1A1F9-0621-40B8-A939-5DB3C9C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03  Arquitectura y calidad</a:t>
            </a:r>
          </a:p>
        </p:txBody>
      </p:sp>
      <p:sp>
        <p:nvSpPr>
          <p:cNvPr id="10" name="texto-mw79n2-9">
            <a:extLst xmlns:a="http://schemas.openxmlformats.org/drawingml/2006/main">
              <a:ext uri="{FF2B5EF4-FFF2-40B4-BE49-F238E27FC236}">
                <a16:creationId xmlns:a16="http://schemas.microsoft.com/office/drawing/2014/main" id="{669239FF-96A7-4AEC-A2B7-6A2F550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Flujo, estados, integración con IA y pruebas</a:t>
            </a:r>
          </a:p>
        </p:txBody>
      </p:sp>
      <p:sp>
        <p:nvSpPr>
          <p:cNvPr id="11" name="texto-mw79n2-10">
            <a:extLst xmlns:a="http://schemas.openxmlformats.org/drawingml/2006/main">
              <a:ext uri="{FF2B5EF4-FFF2-40B4-BE49-F238E27FC236}">
                <a16:creationId xmlns:a16="http://schemas.microsoft.com/office/drawing/2014/main" id="{86F248CA-CEEA-477C-92F8-2B95534C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04  Ejecución y despliegue</a:t>
            </a:r>
          </a:p>
        </p:txBody>
      </p:sp>
      <p:sp>
        <p:nvSpPr>
          <p:cNvPr id="12" name="texto-mw79n2-11">
            <a:extLst xmlns:a="http://schemas.openxmlformats.org/drawingml/2006/main">
              <a:ext uri="{FF2B5EF4-FFF2-40B4-BE49-F238E27FC236}">
                <a16:creationId xmlns:a16="http://schemas.microsoft.com/office/drawing/2014/main" id="{78C4AECF-0A57-447F-927B-D12EC2DB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Configuración, Vercel, documentación y límites</a:t>
            </a:r>
          </a:p>
        </p:txBody>
      </p:sp>
    </p:spTree>
    <p:extLst>
      <p:ext uri="{BB962C8B-B14F-4D97-AF65-F5344CB8AC3E}">
        <p14:creationId xmlns:p14="http://schemas.microsoft.com/office/powerpoint/2010/main" val="638242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ig5vou-0">
            <a:extLst xmlns:a="http://schemas.openxmlformats.org/drawingml/2006/main">
              <a:ext uri="{FF2B5EF4-FFF2-40B4-BE49-F238E27FC236}">
                <a16:creationId xmlns:a16="http://schemas.microsoft.com/office/drawing/2014/main" id="{6CD1E3E9-CD35-4C53-AF11-6CF0AAAB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PROYECTO</a:t>
            </a:r>
          </a:p>
        </p:txBody>
      </p:sp>
      <p:sp>
        <p:nvSpPr>
          <p:cNvPr id="2" name="texto-ig5vou-1">
            <a:extLst xmlns:a="http://schemas.openxmlformats.org/drawingml/2006/main">
              <a:ext uri="{FF2B5EF4-FFF2-40B4-BE49-F238E27FC236}">
                <a16:creationId xmlns:a16="http://schemas.microsoft.com/office/drawing/2014/main" id="{849CA5C0-7B9E-44BE-BDF9-7E37826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Qué es MeT</a:t>
            </a:r>
          </a:p>
        </p:txBody>
      </p:sp>
      <p:sp>
        <p:nvSpPr>
          <p:cNvPr id="3" name="texto-ig5vou-2">
            <a:extLst xmlns:a="http://schemas.openxmlformats.org/drawingml/2006/main">
              <a:ext uri="{FF2B5EF4-FFF2-40B4-BE49-F238E27FC236}">
                <a16:creationId xmlns:a16="http://schemas.microsoft.com/office/drawing/2014/main" id="{64C236F6-BDE8-4427-A95F-2AD0CE4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ig5vou-3">
            <a:extLst xmlns:a="http://schemas.openxmlformats.org/drawingml/2006/main">
              <a:ext uri="{FF2B5EF4-FFF2-40B4-BE49-F238E27FC236}">
                <a16:creationId xmlns:a16="http://schemas.microsoft.com/office/drawing/2014/main" id="{BA580DDC-11ED-4AEF-9BDB-BE93AEF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texto-ig5vou-4">
            <a:extLst xmlns:a="http://schemas.openxmlformats.org/drawingml/2006/main">
              <a:ext uri="{FF2B5EF4-FFF2-40B4-BE49-F238E27FC236}">
                <a16:creationId xmlns:a16="http://schemas.microsoft.com/office/drawing/2014/main" id="{186DC4BB-D8FC-4308-A00C-8905740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Una pantalla para elegir un objeto y sus encantamientos, y consultar un orden de combinación.</a:t>
            </a:r>
          </a:p>
        </p:txBody>
      </p:sp>
      <p:sp>
        <p:nvSpPr>
          <p:cNvPr id="6" name="texto-ig5vou-5">
            <a:extLst xmlns:a="http://schemas.openxmlformats.org/drawingml/2006/main">
              <a:ext uri="{FF2B5EF4-FFF2-40B4-BE49-F238E27FC236}">
                <a16:creationId xmlns:a16="http://schemas.microsoft.com/office/drawing/2014/main" id="{689084D7-ED3A-463C-9DEB-B75CA6C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7" name="texto-ig5vou-6">
            <a:extLst xmlns:a="http://schemas.openxmlformats.org/drawingml/2006/main">
              <a:ext uri="{FF2B5EF4-FFF2-40B4-BE49-F238E27FC236}">
                <a16:creationId xmlns:a16="http://schemas.microsoft.com/office/drawing/2014/main" id="{8E0CC827-6A3B-4F4B-BAF3-F57F6DA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Objeto, encantamientos y niveles.</a:t>
            </a:r>
          </a:p>
        </p:txBody>
      </p:sp>
      <p:sp>
        <p:nvSpPr>
          <p:cNvPr id="8" name="texto-ig5vou-7">
            <a:extLst xmlns:a="http://schemas.openxmlformats.org/drawingml/2006/main">
              <a:ext uri="{FF2B5EF4-FFF2-40B4-BE49-F238E27FC236}">
                <a16:creationId xmlns:a16="http://schemas.microsoft.com/office/drawing/2014/main" id="{5705E170-776C-424A-B5EA-8F42D0D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9" name="texto-ig5vou-8">
            <a:extLst xmlns:a="http://schemas.openxmlformats.org/drawingml/2006/main">
              <a:ext uri="{FF2B5EF4-FFF2-40B4-BE49-F238E27FC236}">
                <a16:creationId xmlns:a16="http://schemas.microsoft.com/office/drawing/2014/main" id="{1C1C7A4A-B6CC-44F3-8CD5-00ADB45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Pasos, coste estimado y advertencias.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02FAE-68BE-4100-8CD0-7C308CC9D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3e310828b4255"/>
          <a:stretch xmlns:a="http://schemas.openxmlformats.org/drawingml/2006/main"/>
        </p:blipFill>
        <p:spPr>
          <a:xfrm xmlns:a="http://schemas.openxmlformats.org/drawingml/2006/main">
            <a:off x="4695825" y="1854078"/>
            <a:ext cx="6896100" cy="3978519"/>
          </a:xfrm>
          <a:prstGeom xmlns:a="http://schemas.openxmlformats.org/drawingml/2006/main" prst="rect">
            <a:avLst/>
          </a:prstGeom>
        </p:spPr>
      </p:pic>
      <p:sp>
        <p:nvSpPr>
          <p:cNvPr id="11" name="texto-ig5vou-9">
            <a:extLst xmlns:a="http://schemas.openxmlformats.org/drawingml/2006/main">
              <a:ext uri="{FF2B5EF4-FFF2-40B4-BE49-F238E27FC236}">
                <a16:creationId xmlns:a16="http://schemas.microsoft.com/office/drawing/2014/main" id="{338C474C-9793-4E5A-A0E6-7B153D7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531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Interfaz publicada / captura del 13-10-2026</a:t>
            </a:r>
          </a:p>
        </p:txBody>
      </p:sp>
    </p:spTree>
    <p:extLst>
      <p:ext uri="{BB962C8B-B14F-4D97-AF65-F5344CB8AC3E}">
        <p14:creationId xmlns:p14="http://schemas.microsoft.com/office/powerpoint/2010/main" val="1070235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rwd2jq-0">
            <a:extLst xmlns:a="http://schemas.openxmlformats.org/drawingml/2006/main">
              <a:ext uri="{FF2B5EF4-FFF2-40B4-BE49-F238E27FC236}">
                <a16:creationId xmlns:a16="http://schemas.microsoft.com/office/drawing/2014/main" id="{460F6CDB-A1E3-4D26-B815-CBAE25F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FUNCIONAMIENTO</a:t>
            </a:r>
          </a:p>
        </p:txBody>
      </p:sp>
      <p:sp>
        <p:nvSpPr>
          <p:cNvPr id="2" name="texto-rwd2jq-1">
            <a:extLst xmlns:a="http://schemas.openxmlformats.org/drawingml/2006/main">
              <a:ext uri="{FF2B5EF4-FFF2-40B4-BE49-F238E27FC236}">
                <a16:creationId xmlns:a16="http://schemas.microsoft.com/office/drawing/2014/main" id="{D3CC067D-1413-4751-95DF-F13315E0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Flujo operativo</a:t>
            </a:r>
          </a:p>
        </p:txBody>
      </p:sp>
      <p:sp>
        <p:nvSpPr>
          <p:cNvPr id="3" name="texto-rwd2jq-2">
            <a:extLst xmlns:a="http://schemas.openxmlformats.org/drawingml/2006/main">
              <a:ext uri="{FF2B5EF4-FFF2-40B4-BE49-F238E27FC236}">
                <a16:creationId xmlns:a16="http://schemas.microsoft.com/office/drawing/2014/main" id="{BEBB7E80-4F62-40BD-B7BF-A0A1EB8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rwd2jq-3">
            <a:extLst xmlns:a="http://schemas.openxmlformats.org/drawingml/2006/main">
              <a:ext uri="{FF2B5EF4-FFF2-40B4-BE49-F238E27FC236}">
                <a16:creationId xmlns:a16="http://schemas.microsoft.com/office/drawing/2014/main" id="{01FCC7ED-46F5-4217-BE2C-CFF2EE6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texto-rwd2jq-4">
            <a:extLst xmlns:a="http://schemas.openxmlformats.org/drawingml/2006/main">
              <a:ext uri="{FF2B5EF4-FFF2-40B4-BE49-F238E27FC236}">
                <a16:creationId xmlns:a16="http://schemas.microsoft.com/office/drawing/2014/main" id="{D3CCD0AC-22A2-45D9-B412-3404E13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1. Selección</a:t>
            </a:r>
          </a:p>
        </p:txBody>
      </p:sp>
      <p:sp>
        <p:nvSpPr>
          <p:cNvPr id="6" name="texto-rwd2jq-5">
            <a:extLst xmlns:a="http://schemas.openxmlformats.org/drawingml/2006/main">
              <a:ext uri="{FF2B5EF4-FFF2-40B4-BE49-F238E27FC236}">
                <a16:creationId xmlns:a16="http://schemas.microsoft.com/office/drawing/2014/main" id="{6E11A334-777C-4B15-A5DC-15DFF10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El jugador elige un objeto y entre 1 y 8 encantamientos.</a:t>
            </a:r>
          </a:p>
        </p:txBody>
      </p:sp>
      <p:sp>
        <p:nvSpPr>
          <p:cNvPr id="7" name="texto-rwd2jq-6">
            <a:extLst xmlns:a="http://schemas.openxmlformats.org/drawingml/2006/main">
              <a:ext uri="{FF2B5EF4-FFF2-40B4-BE49-F238E27FC236}">
                <a16:creationId xmlns:a16="http://schemas.microsoft.com/office/drawing/2014/main" id="{E06E13A5-4848-4B65-96DF-BB31DB7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2. Validación</a:t>
            </a:r>
          </a:p>
        </p:txBody>
      </p:sp>
      <p:sp>
        <p:nvSpPr>
          <p:cNvPr id="8" name="texto-rwd2jq-7">
            <a:extLst xmlns:a="http://schemas.openxmlformats.org/drawingml/2006/main">
              <a:ext uri="{FF2B5EF4-FFF2-40B4-BE49-F238E27FC236}">
                <a16:creationId xmlns:a16="http://schemas.microsoft.com/office/drawing/2014/main" id="{2BB3A2DC-C67B-4DE8-AE0F-43B27C7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FastAPI comprueba tipos, niveles y compatibilidad.</a:t>
            </a:r>
          </a:p>
        </p:txBody>
      </p:sp>
      <p:sp>
        <p:nvSpPr>
          <p:cNvPr id="9" name="texto-rwd2jq-8">
            <a:extLst xmlns:a="http://schemas.openxmlformats.org/drawingml/2006/main">
              <a:ext uri="{FF2B5EF4-FFF2-40B4-BE49-F238E27FC236}">
                <a16:creationId xmlns:a16="http://schemas.microsoft.com/office/drawing/2014/main" id="{49E710AA-6B20-4D87-B3F7-7D4AE22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3. Consulta</a:t>
            </a:r>
          </a:p>
        </p:txBody>
      </p:sp>
      <p:sp>
        <p:nvSpPr>
          <p:cNvPr id="10" name="texto-rwd2jq-9">
            <a:extLst xmlns:a="http://schemas.openxmlformats.org/drawingml/2006/main">
              <a:ext uri="{FF2B5EF4-FFF2-40B4-BE49-F238E27FC236}">
                <a16:creationId xmlns:a16="http://schemas.microsoft.com/office/drawing/2014/main" id="{99C08EAC-1AC7-4113-BDB6-DF39CF7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El backend solicita un plan a OpenRouter una sola vez.</a:t>
            </a:r>
          </a:p>
        </p:txBody>
      </p:sp>
      <p:sp>
        <p:nvSpPr>
          <p:cNvPr id="11" name="texto-rwd2jq-10">
            <a:extLst xmlns:a="http://schemas.openxmlformats.org/drawingml/2006/main">
              <a:ext uri="{FF2B5EF4-FFF2-40B4-BE49-F238E27FC236}">
                <a16:creationId xmlns:a16="http://schemas.microsoft.com/office/drawing/2014/main" id="{E81B486A-44C1-4333-8AFB-5C1F6B2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4. Presentación</a:t>
            </a:r>
          </a:p>
        </p:txBody>
      </p:sp>
      <p:sp>
        <p:nvSpPr>
          <p:cNvPr id="12" name="texto-rwd2jq-11">
            <a:extLst xmlns:a="http://schemas.openxmlformats.org/drawingml/2006/main">
              <a:ext uri="{FF2B5EF4-FFF2-40B4-BE49-F238E27FC236}">
                <a16:creationId xmlns:a16="http://schemas.microsoft.com/office/drawing/2014/main" id="{536A858F-5C8F-40EA-A5A2-8483784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La interfaz muestra el resultado o el error en la misma pantalla.</a:t>
            </a:r>
          </a:p>
        </p:txBody>
      </p:sp>
    </p:spTree>
    <p:extLst>
      <p:ext uri="{BB962C8B-B14F-4D97-AF65-F5344CB8AC3E}">
        <p14:creationId xmlns:p14="http://schemas.microsoft.com/office/powerpoint/2010/main" val="694690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-yyp1uh-0">
            <a:extLst xmlns:a="http://schemas.openxmlformats.org/drawingml/2006/main">
              <a:ext uri="{FF2B5EF4-FFF2-40B4-BE49-F238E27FC236}">
                <a16:creationId xmlns:a16="http://schemas.microsoft.com/office/drawing/2014/main" id="{763549A8-2F05-4855-A247-34C4151D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CONTRATO HTTP</a:t>
            </a:r>
          </a:p>
        </p:txBody>
      </p:sp>
      <p:sp>
        <p:nvSpPr>
          <p:cNvPr id="2" name="texto-yyp1uh-1">
            <a:extLst xmlns:a="http://schemas.openxmlformats.org/drawingml/2006/main">
              <a:ext uri="{FF2B5EF4-FFF2-40B4-BE49-F238E27FC236}">
                <a16:creationId xmlns:a16="http://schemas.microsoft.com/office/drawing/2014/main" id="{4A2EAF72-4D48-4818-BEF5-5F90CE6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Ejemplo de solicitud</a:t>
            </a:r>
          </a:p>
        </p:txBody>
      </p:sp>
      <p:sp>
        <p:nvSpPr>
          <p:cNvPr id="3" name="texto-yyp1uh-2">
            <a:extLst xmlns:a="http://schemas.openxmlformats.org/drawingml/2006/main">
              <a:ext uri="{FF2B5EF4-FFF2-40B4-BE49-F238E27FC236}">
                <a16:creationId xmlns:a16="http://schemas.microsoft.com/office/drawing/2014/main" id="{2CFB6AE6-2FAE-46B4-9EA6-7BCBD76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yyp1uh-3">
            <a:extLst xmlns:a="http://schemas.openxmlformats.org/drawingml/2006/main">
              <a:ext uri="{FF2B5EF4-FFF2-40B4-BE49-F238E27FC236}">
                <a16:creationId xmlns:a16="http://schemas.microsoft.com/office/drawing/2014/main" id="{5BB2C1B7-1AB5-44B6-9EC4-223CE7F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texto-yyp1uh-4">
            <a:extLst xmlns:a="http://schemas.openxmlformats.org/drawingml/2006/main">
              <a:ext uri="{FF2B5EF4-FFF2-40B4-BE49-F238E27FC236}">
                <a16:creationId xmlns:a16="http://schemas.microsoft.com/office/drawing/2014/main" id="{8DB42622-F75B-4D96-B900-8A70524B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POST /api/procesar</a:t>
            </a:r>
          </a:p>
        </p:txBody>
      </p:sp>
      <p:sp>
        <p:nvSpPr>
          <p:cNvPr id="6" name="texto-yyp1uh-5">
            <a:extLst xmlns:a="http://schemas.openxmlformats.org/drawingml/2006/main">
              <a:ext uri="{FF2B5EF4-FFF2-40B4-BE49-F238E27FC236}">
                <a16:creationId xmlns:a16="http://schemas.microsoft.com/office/drawing/2014/main" id="{F00AC3C8-25A9-4D55-86B6-2B092FA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74295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"objeto": "diamond_sword",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"encantamientos": [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{"nombre": "sharpness", "nivel": 5},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{"nombre": "mending", "nivel": 1}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o-yyp1uh-6">
            <a:extLst xmlns:a="http://schemas.openxmlformats.org/drawingml/2006/main">
              <a:ext uri="{FF2B5EF4-FFF2-40B4-BE49-F238E27FC236}">
                <a16:creationId xmlns:a16="http://schemas.microsoft.com/office/drawing/2014/main" id="{34D6BBC9-C5AA-48AE-99B8-F021E5B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Espada de diamante</a:t>
            </a:r>
          </a:p>
        </p:txBody>
      </p:sp>
      <p:sp>
        <p:nvSpPr>
          <p:cNvPr id="8" name="texto-yyp1uh-7">
            <a:extLst xmlns:a="http://schemas.openxmlformats.org/drawingml/2006/main">
              <a:ext uri="{FF2B5EF4-FFF2-40B4-BE49-F238E27FC236}">
                <a16:creationId xmlns:a16="http://schemas.microsoft.com/office/drawing/2014/main" id="{84B3475A-972B-471A-A24E-972AFE42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Filo V</a:t>
            </a:r>
          </a:p>
          <a:p xmlns:a="http://schemas.openxmlformats.org/drawingml/2006/main">
            <a:pPr>
              <a:defRPr sz="22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Reparación I</a:t>
            </a:r>
          </a:p>
        </p:txBody>
      </p:sp>
      <p:sp>
        <p:nvSpPr>
          <p:cNvPr id="9" name="texto-yyp1uh-8">
            <a:extLst xmlns:a="http://schemas.openxmlformats.org/drawingml/2006/main">
              <a:ext uri="{FF2B5EF4-FFF2-40B4-BE49-F238E27FC236}">
                <a16:creationId xmlns:a16="http://schemas.microsoft.com/office/drawing/2014/main" id="{317AE6EF-0F6C-45A8-9251-49CD4A7E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El contrato usa identificadores en inglés y niveles enteros.</a:t>
            </a:r>
          </a:p>
        </p:txBody>
      </p:sp>
    </p:spTree>
    <p:extLst>
      <p:ext uri="{BB962C8B-B14F-4D97-AF65-F5344CB8AC3E}">
        <p14:creationId xmlns:p14="http://schemas.microsoft.com/office/powerpoint/2010/main" val="2125555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1paubu-0">
            <a:extLst xmlns:a="http://schemas.openxmlformats.org/drawingml/2006/main">
              <a:ext uri="{FF2B5EF4-FFF2-40B4-BE49-F238E27FC236}">
                <a16:creationId xmlns:a16="http://schemas.microsoft.com/office/drawing/2014/main" id="{C209E9B9-CD1F-4BF8-8121-D567C8AB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PROYECTO</a:t>
            </a:r>
          </a:p>
        </p:txBody>
      </p:sp>
      <p:sp>
        <p:nvSpPr>
          <p:cNvPr id="2" name="texto-1paubu-1">
            <a:extLst xmlns:a="http://schemas.openxmlformats.org/drawingml/2006/main">
              <a:ext uri="{FF2B5EF4-FFF2-40B4-BE49-F238E27FC236}">
                <a16:creationId xmlns:a16="http://schemas.microsoft.com/office/drawing/2014/main" id="{4C1C51D3-B74B-4D75-AA48-6843B1F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Objetivos de aprendizaje</a:t>
            </a:r>
          </a:p>
        </p:txBody>
      </p:sp>
      <p:sp>
        <p:nvSpPr>
          <p:cNvPr id="3" name="texto-1paubu-2">
            <a:extLst xmlns:a="http://schemas.openxmlformats.org/drawingml/2006/main">
              <a:ext uri="{FF2B5EF4-FFF2-40B4-BE49-F238E27FC236}">
                <a16:creationId xmlns:a16="http://schemas.microsoft.com/office/drawing/2014/main" id="{E2EE4428-B819-4FCE-A1BD-7BDFE90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1paubu-3">
            <a:extLst xmlns:a="http://schemas.openxmlformats.org/drawingml/2006/main">
              <a:ext uri="{FF2B5EF4-FFF2-40B4-BE49-F238E27FC236}">
                <a16:creationId xmlns:a16="http://schemas.microsoft.com/office/drawing/2014/main" id="{BB494EAE-717C-4623-8178-3099E34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texto-1paubu-4">
            <a:extLst xmlns:a="http://schemas.openxmlformats.org/drawingml/2006/main">
              <a:ext uri="{FF2B5EF4-FFF2-40B4-BE49-F238E27FC236}">
                <a16:creationId xmlns:a16="http://schemas.microsoft.com/office/drawing/2014/main" id="{AC95DA6C-35FE-4763-8870-9D7FA80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Separar responsabilidades</a:t>
            </a:r>
          </a:p>
        </p:txBody>
      </p:sp>
      <p:sp>
        <p:nvSpPr>
          <p:cNvPr id="6" name="texto-1paubu-5">
            <a:extLst xmlns:a="http://schemas.openxmlformats.org/drawingml/2006/main">
              <a:ext uri="{FF2B5EF4-FFF2-40B4-BE49-F238E27FC236}">
                <a16:creationId xmlns:a16="http://schemas.microsoft.com/office/drawing/2014/main" id="{55AF3C27-4907-454B-A14D-725EA306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Conectar una SPA con una API Python mediante un contrato común.</a:t>
            </a:r>
          </a:p>
        </p:txBody>
      </p:sp>
      <p:sp>
        <p:nvSpPr>
          <p:cNvPr id="7" name="texto-1paubu-6">
            <a:extLst xmlns:a="http://schemas.openxmlformats.org/drawingml/2006/main">
              <a:ext uri="{FF2B5EF4-FFF2-40B4-BE49-F238E27FC236}">
                <a16:creationId xmlns:a16="http://schemas.microsoft.com/office/drawing/2014/main" id="{C565DCF9-2CAD-4B92-8873-2D3F0D2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Consumir una API de IA</a:t>
            </a:r>
          </a:p>
        </p:txBody>
      </p:sp>
      <p:sp>
        <p:nvSpPr>
          <p:cNvPr id="8" name="texto-1paubu-7">
            <a:extLst xmlns:a="http://schemas.openxmlformats.org/drawingml/2006/main">
              <a:ext uri="{FF2B5EF4-FFF2-40B4-BE49-F238E27FC236}">
                <a16:creationId xmlns:a16="http://schemas.microsoft.com/office/drawing/2014/main" id="{33123104-BE6F-49A8-9C3A-8DCBCBA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Configurar un modelo y tratar sus errores sin exponer la clave.</a:t>
            </a:r>
          </a:p>
        </p:txBody>
      </p:sp>
      <p:sp>
        <p:nvSpPr>
          <p:cNvPr id="9" name="texto-1paubu-8">
            <a:extLst xmlns:a="http://schemas.openxmlformats.org/drawingml/2006/main">
              <a:ext uri="{FF2B5EF4-FFF2-40B4-BE49-F238E27FC236}">
                <a16:creationId xmlns:a16="http://schemas.microsoft.com/office/drawing/2014/main" id="{9E430AD8-519F-4BF9-8814-524BD20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Comprobar el comportamiento</a:t>
            </a:r>
          </a:p>
        </p:txBody>
      </p:sp>
      <p:sp>
        <p:nvSpPr>
          <p:cNvPr id="10" name="texto-1paubu-9">
            <a:extLst xmlns:a="http://schemas.openxmlformats.org/drawingml/2006/main">
              <a:ext uri="{FF2B5EF4-FFF2-40B4-BE49-F238E27FC236}">
                <a16:creationId xmlns:a16="http://schemas.microsoft.com/office/drawing/2014/main" id="{2F668FFE-4A70-4B27-99D6-98AA84A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Validar entradas y salidas con pruebas que simulan el proveedor.</a:t>
            </a:r>
          </a:p>
        </p:txBody>
      </p:sp>
      <p:sp>
        <p:nvSpPr>
          <p:cNvPr id="11" name="texto-1paubu-10">
            <a:extLst xmlns:a="http://schemas.openxmlformats.org/drawingml/2006/main">
              <a:ext uri="{FF2B5EF4-FFF2-40B4-BE49-F238E27FC236}">
                <a16:creationId xmlns:a16="http://schemas.microsoft.com/office/drawing/2014/main" id="{5B3B17EE-8BB6-426F-B40B-3A0AC2D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Explicar y reproducir el proyecto</a:t>
            </a:r>
          </a:p>
        </p:txBody>
      </p:sp>
      <p:sp>
        <p:nvSpPr>
          <p:cNvPr id="12" name="texto-1paubu-11">
            <a:extLst xmlns:a="http://schemas.openxmlformats.org/drawingml/2006/main">
              <a:ext uri="{FF2B5EF4-FFF2-40B4-BE49-F238E27FC236}">
                <a16:creationId xmlns:a16="http://schemas.microsoft.com/office/drawing/2014/main" id="{4896FDFE-2D0E-48B4-AAAD-BAFF4E1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Relacionar requisitos, código, configuración y despliegue.</a:t>
            </a:r>
          </a:p>
        </p:txBody>
      </p:sp>
    </p:spTree>
    <p:extLst>
      <p:ext uri="{BB962C8B-B14F-4D97-AF65-F5344CB8AC3E}">
        <p14:creationId xmlns:p14="http://schemas.microsoft.com/office/powerpoint/2010/main" val="1577548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-j22kn5-0">
            <a:extLst xmlns:a="http://schemas.openxmlformats.org/drawingml/2006/main">
              <a:ext uri="{FF2B5EF4-FFF2-40B4-BE49-F238E27FC236}">
                <a16:creationId xmlns:a16="http://schemas.microsoft.com/office/drawing/2014/main" id="{5582382F-5414-4777-96B1-E0E0DD7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TECNOLOGÍAS</a:t>
            </a:r>
          </a:p>
        </p:txBody>
      </p:sp>
      <p:sp>
        <p:nvSpPr>
          <p:cNvPr id="2" name="texto-j22kn5-1">
            <a:extLst xmlns:a="http://schemas.openxmlformats.org/drawingml/2006/main">
              <a:ext uri="{FF2B5EF4-FFF2-40B4-BE49-F238E27FC236}">
                <a16:creationId xmlns:a16="http://schemas.microsoft.com/office/drawing/2014/main" id="{51DA68EF-9358-4BD8-9AF9-4AD6B89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Stack tecnológico</a:t>
            </a:r>
          </a:p>
        </p:txBody>
      </p:sp>
      <p:sp>
        <p:nvSpPr>
          <p:cNvPr id="3" name="texto-j22kn5-2">
            <a:extLst xmlns:a="http://schemas.openxmlformats.org/drawingml/2006/main">
              <a:ext uri="{FF2B5EF4-FFF2-40B4-BE49-F238E27FC236}">
                <a16:creationId xmlns:a16="http://schemas.microsoft.com/office/drawing/2014/main" id="{1CF1379F-C598-4926-B300-1E49FC3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j22kn5-3">
            <a:extLst xmlns:a="http://schemas.openxmlformats.org/drawingml/2006/main">
              <a:ext uri="{FF2B5EF4-FFF2-40B4-BE49-F238E27FC236}">
                <a16:creationId xmlns:a16="http://schemas.microsoft.com/office/drawing/2014/main" id="{7FDB6B49-233D-40EE-8963-D3E1943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D67B-6F6D-457F-9F64-505487775DC5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05300"/>
              </a:tblGrid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Capa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Tecnología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Función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</a:tr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Interfaz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Vue 3 + JavaScript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Formulario y estado reactivo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Estilos y build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Tailwind CSS 4 + Vite 8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Diseño y compilación del cliente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API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FastAPI 0.115.12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Endpoint y respuestas HTTP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Datos y red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Pydantic 2.11.5 + HTTPX 0.28.1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Validación y consulta externa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6762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Calidad y hosting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pytest + Vercel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Pruebas aisladas y publicación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43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-97yxdk-0">
            <a:extLst xmlns:a="http://schemas.openxmlformats.org/drawingml/2006/main">
              <a:ext uri="{FF2B5EF4-FFF2-40B4-BE49-F238E27FC236}">
                <a16:creationId xmlns:a16="http://schemas.microsoft.com/office/drawing/2014/main" id="{28E4ECCE-DD1F-482F-A98F-E5140E0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MONOREPOSITORIO</a:t>
            </a:r>
          </a:p>
        </p:txBody>
      </p:sp>
      <p:sp>
        <p:nvSpPr>
          <p:cNvPr id="2" name="texto-97yxdk-1">
            <a:extLst xmlns:a="http://schemas.openxmlformats.org/drawingml/2006/main">
              <a:ext uri="{FF2B5EF4-FFF2-40B4-BE49-F238E27FC236}">
                <a16:creationId xmlns:a16="http://schemas.microsoft.com/office/drawing/2014/main" id="{ACAC6155-B9BD-4B08-9288-F85553EB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Estructura del proyecto</a:t>
            </a:r>
          </a:p>
        </p:txBody>
      </p:sp>
      <p:sp>
        <p:nvSpPr>
          <p:cNvPr id="3" name="texto-97yxdk-2">
            <a:extLst xmlns:a="http://schemas.openxmlformats.org/drawingml/2006/main">
              <a:ext uri="{FF2B5EF4-FFF2-40B4-BE49-F238E27FC236}">
                <a16:creationId xmlns:a16="http://schemas.microsoft.com/office/drawing/2014/main" id="{DCC27548-721D-4BE7-B411-C0D49F0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97yxdk-3">
            <a:extLst xmlns:a="http://schemas.openxmlformats.org/drawingml/2006/main">
              <a:ext uri="{FF2B5EF4-FFF2-40B4-BE49-F238E27FC236}">
                <a16:creationId xmlns:a16="http://schemas.microsoft.com/office/drawing/2014/main" id="{235003FD-1CB8-44A8-9074-11DC2E3E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texto-97yxdk-4">
            <a:extLst xmlns:a="http://schemas.openxmlformats.org/drawingml/2006/main">
              <a:ext uri="{FF2B5EF4-FFF2-40B4-BE49-F238E27FC236}">
                <a16:creationId xmlns:a16="http://schemas.microsoft.com/office/drawing/2014/main" id="{BA4DE5D5-3FBE-499E-A2AD-5DFAA5A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715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Minecraft-Enchanting-Tool/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app1/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backend/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main.py, schemas.py, rules.py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ai_client.py, config.py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tests/test_backend.py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requirements.txt, vercel.json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frontend/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src/App.vue, main.js, style.css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  package.json, vite.config.js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docs/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contrato-api.md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    diagramas/secuencia-procesamiento.md</a:t>
            </a:r>
          </a:p>
        </p:txBody>
      </p:sp>
      <p:sp>
        <p:nvSpPr>
          <p:cNvPr id="6" name="texto-97yxdk-5">
            <a:extLst xmlns:a="http://schemas.openxmlformats.org/drawingml/2006/main">
              <a:ext uri="{FF2B5EF4-FFF2-40B4-BE49-F238E27FC236}">
                <a16:creationId xmlns:a16="http://schemas.microsoft.com/office/drawing/2014/main" id="{42BD7684-1C33-4194-B6CF-6A84278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Código</a:t>
            </a:r>
          </a:p>
        </p:txBody>
      </p:sp>
      <p:sp>
        <p:nvSpPr>
          <p:cNvPr id="7" name="texto-97yxdk-6">
            <a:extLst xmlns:a="http://schemas.openxmlformats.org/drawingml/2006/main">
              <a:ext uri="{FF2B5EF4-FFF2-40B4-BE49-F238E27FC236}">
                <a16:creationId xmlns:a16="http://schemas.microsoft.com/office/drawing/2014/main" id="{2904953B-38C5-4E07-92DD-5C3E05E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Dos carpetas para trabajar frontend y backend por separado.</a:t>
            </a:r>
          </a:p>
        </p:txBody>
      </p:sp>
      <p:sp>
        <p:nvSpPr>
          <p:cNvPr id="8" name="texto-97yxdk-7">
            <a:extLst xmlns:a="http://schemas.openxmlformats.org/drawingml/2006/main">
              <a:ext uri="{FF2B5EF4-FFF2-40B4-BE49-F238E27FC236}">
                <a16:creationId xmlns:a16="http://schemas.microsoft.com/office/drawing/2014/main" id="{F709FCA7-C3B9-438D-80E9-D9FCFAC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814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Documentación</a:t>
            </a:r>
          </a:p>
        </p:txBody>
      </p:sp>
      <p:sp>
        <p:nvSpPr>
          <p:cNvPr id="9" name="texto-97yxdk-8">
            <a:extLst xmlns:a="http://schemas.openxmlformats.org/drawingml/2006/main">
              <a:ext uri="{FF2B5EF4-FFF2-40B4-BE49-F238E27FC236}">
                <a16:creationId xmlns:a16="http://schemas.microsoft.com/office/drawing/2014/main" id="{4F245D34-0F9F-401E-AE24-6F02AC8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767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Contrato compartido y secuencia del procesamiento.</a:t>
            </a:r>
          </a:p>
        </p:txBody>
      </p:sp>
    </p:spTree>
    <p:extLst>
      <p:ext uri="{BB962C8B-B14F-4D97-AF65-F5344CB8AC3E}">
        <p14:creationId xmlns:p14="http://schemas.microsoft.com/office/powerpoint/2010/main" val="1039548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-siibyw-0">
            <a:extLst xmlns:a="http://schemas.openxmlformats.org/drawingml/2006/main">
              <a:ext uri="{FF2B5EF4-FFF2-40B4-BE49-F238E27FC236}">
                <a16:creationId xmlns:a16="http://schemas.microsoft.com/office/drawing/2014/main" id="{89750ECA-D92A-41E4-BE62-28905B6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2" name="texto-siibyw-1">
            <a:extLst xmlns:a="http://schemas.openxmlformats.org/drawingml/2006/main">
              <a:ext uri="{FF2B5EF4-FFF2-40B4-BE49-F238E27FC236}">
                <a16:creationId xmlns:a16="http://schemas.microsoft.com/office/drawing/2014/main" id="{E289FE6E-3601-4751-9172-9D77749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Responsabilidad de cada archivo</a:t>
            </a:r>
          </a:p>
        </p:txBody>
      </p:sp>
      <p:sp>
        <p:nvSpPr>
          <p:cNvPr id="3" name="texto-siibyw-2">
            <a:extLst xmlns:a="http://schemas.openxmlformats.org/drawingml/2006/main">
              <a:ext uri="{FF2B5EF4-FFF2-40B4-BE49-F238E27FC236}">
                <a16:creationId xmlns:a16="http://schemas.microsoft.com/office/drawing/2014/main" id="{AF9054E1-3D47-41E8-AF71-E02F7F9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siibyw-3">
            <a:extLst xmlns:a="http://schemas.openxmlformats.org/drawingml/2006/main">
              <a:ext uri="{FF2B5EF4-FFF2-40B4-BE49-F238E27FC236}">
                <a16:creationId xmlns:a16="http://schemas.microsoft.com/office/drawing/2014/main" id="{969BD5AF-B258-44EA-82F3-FA2C22D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60DFE-9F69-4C0F-80F0-F59FCB72EF9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Archivo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Responsabilidad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main.py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Expone el endpoint, configura CORS y traduce errores.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schemas.py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Define los datos y valida entrada y plan de salida.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rules.py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Contiene objetos, niveles y grupos incompatibles.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ai_client.py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Construye el prompt y realiza la consulta a OpenRouter.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config.py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Carga modo, clave, modelo, timeout y orígenes.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tests/test_backend.py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Prueba contrato, validaciones y fallos con mocks.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83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h63va7-0">
            <a:extLst xmlns:a="http://schemas.openxmlformats.org/drawingml/2006/main">
              <a:ext uri="{FF2B5EF4-FFF2-40B4-BE49-F238E27FC236}">
                <a16:creationId xmlns:a16="http://schemas.microsoft.com/office/drawing/2014/main" id="{8ACCCAE7-0B08-496A-B147-09E6085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ALCANCE DE APP 1</a:t>
            </a:r>
          </a:p>
        </p:txBody>
      </p:sp>
      <p:sp>
        <p:nvSpPr>
          <p:cNvPr id="2" name="texto-h63va7-1">
            <a:extLst xmlns:a="http://schemas.openxmlformats.org/drawingml/2006/main">
              <a:ext uri="{FF2B5EF4-FFF2-40B4-BE49-F238E27FC236}">
                <a16:creationId xmlns:a16="http://schemas.microsoft.com/office/drawing/2014/main" id="{98243DA8-4E8D-46F1-A23A-6D80E78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Requisitos funcionales</a:t>
            </a:r>
          </a:p>
        </p:txBody>
      </p:sp>
      <p:sp>
        <p:nvSpPr>
          <p:cNvPr id="3" name="texto-h63va7-2">
            <a:extLst xmlns:a="http://schemas.openxmlformats.org/drawingml/2006/main">
              <a:ext uri="{FF2B5EF4-FFF2-40B4-BE49-F238E27FC236}">
                <a16:creationId xmlns:a16="http://schemas.microsoft.com/office/drawing/2014/main" id="{886D7734-5824-476A-9904-25F507B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h63va7-3">
            <a:extLst xmlns:a="http://schemas.openxmlformats.org/drawingml/2006/main">
              <a:ext uri="{FF2B5EF4-FFF2-40B4-BE49-F238E27FC236}">
                <a16:creationId xmlns:a16="http://schemas.microsoft.com/office/drawing/2014/main" id="{F1471D5C-78D3-4838-9DA5-34E5F2BB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texto-h63va7-4">
            <a:extLst xmlns:a="http://schemas.openxmlformats.org/drawingml/2006/main">
              <a:ext uri="{FF2B5EF4-FFF2-40B4-BE49-F238E27FC236}">
                <a16:creationId xmlns:a16="http://schemas.microsoft.com/office/drawing/2014/main" id="{2CE5AC0C-B0D7-4BA4-8901-B7D6BB2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Formulario único</a:t>
            </a:r>
          </a:p>
        </p:txBody>
      </p:sp>
      <p:sp>
        <p:nvSpPr>
          <p:cNvPr id="6" name="texto-h63va7-5">
            <a:extLst xmlns:a="http://schemas.openxmlformats.org/drawingml/2006/main">
              <a:ext uri="{FF2B5EF4-FFF2-40B4-BE49-F238E27FC236}">
                <a16:creationId xmlns:a16="http://schemas.microsoft.com/office/drawing/2014/main" id="{9CFEFB20-72CC-4DBC-9CCA-4B3FDA7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Selección de objeto y encantamientos desde listas cerradas.</a:t>
            </a:r>
          </a:p>
        </p:txBody>
      </p:sp>
      <p:sp>
        <p:nvSpPr>
          <p:cNvPr id="7" name="texto-h63va7-6">
            <a:extLst xmlns:a="http://schemas.openxmlformats.org/drawingml/2006/main">
              <a:ext uri="{FF2B5EF4-FFF2-40B4-BE49-F238E27FC236}">
                <a16:creationId xmlns:a16="http://schemas.microsoft.com/office/drawing/2014/main" id="{E674AE2C-D4E4-4CD7-AD9E-6827F94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Validación previa</a:t>
            </a:r>
          </a:p>
        </p:txBody>
      </p:sp>
      <p:sp>
        <p:nvSpPr>
          <p:cNvPr id="8" name="texto-h63va7-7">
            <a:extLst xmlns:a="http://schemas.openxmlformats.org/drawingml/2006/main">
              <a:ext uri="{FF2B5EF4-FFF2-40B4-BE49-F238E27FC236}">
                <a16:creationId xmlns:a16="http://schemas.microsoft.com/office/drawing/2014/main" id="{2A5ED0D3-DFB6-4BCE-8241-0EDF5CE0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Rechazo de entradas inválidas antes de consultar a la IA.</a:t>
            </a:r>
          </a:p>
        </p:txBody>
      </p:sp>
      <p:sp>
        <p:nvSpPr>
          <p:cNvPr id="9" name="texto-h63va7-8">
            <a:extLst xmlns:a="http://schemas.openxmlformats.org/drawingml/2006/main">
              <a:ext uri="{FF2B5EF4-FFF2-40B4-BE49-F238E27FC236}">
                <a16:creationId xmlns:a16="http://schemas.microsoft.com/office/drawing/2014/main" id="{D577BABD-9CE8-4331-B448-6E47D0A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Consulta y comprobación</a:t>
            </a:r>
          </a:p>
        </p:txBody>
      </p:sp>
      <p:sp>
        <p:nvSpPr>
          <p:cNvPr id="10" name="texto-h63va7-9">
            <a:extLst xmlns:a="http://schemas.openxmlformats.org/drawingml/2006/main">
              <a:ext uri="{FF2B5EF4-FFF2-40B4-BE49-F238E27FC236}">
                <a16:creationId xmlns:a16="http://schemas.microsoft.com/office/drawing/2014/main" id="{40310A8B-B977-4EC9-8D5D-B24287F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Una solicitud externa y validación del plan recibido.</a:t>
            </a:r>
          </a:p>
        </p:txBody>
      </p:sp>
      <p:sp>
        <p:nvSpPr>
          <p:cNvPr id="11" name="texto-h63va7-10">
            <a:extLst xmlns:a="http://schemas.openxmlformats.org/drawingml/2006/main">
              <a:ext uri="{FF2B5EF4-FFF2-40B4-BE49-F238E27FC236}">
                <a16:creationId xmlns:a16="http://schemas.microsoft.com/office/drawing/2014/main" id="{6B8D74AB-2770-4658-B6BF-9C41DD4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Resultado y recuperación</a:t>
            </a:r>
          </a:p>
        </p:txBody>
      </p:sp>
      <p:sp>
        <p:nvSpPr>
          <p:cNvPr id="12" name="texto-h63va7-11">
            <a:extLst xmlns:a="http://schemas.openxmlformats.org/drawingml/2006/main">
              <a:ext uri="{FF2B5EF4-FFF2-40B4-BE49-F238E27FC236}">
                <a16:creationId xmlns:a16="http://schemas.microsoft.com/office/drawing/2014/main" id="{7B88BF8F-159B-4B51-A80E-20DABD8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Pasos y errores en la misma vista, con nuevos envíos manuales.</a:t>
            </a:r>
          </a:p>
        </p:txBody>
      </p:sp>
    </p:spTree>
    <p:extLst>
      <p:ext uri="{BB962C8B-B14F-4D97-AF65-F5344CB8AC3E}">
        <p14:creationId xmlns:p14="http://schemas.microsoft.com/office/powerpoint/2010/main" val="1107431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fiw5e5-0">
            <a:extLst xmlns:a="http://schemas.openxmlformats.org/drawingml/2006/main">
              <a:ext uri="{FF2B5EF4-FFF2-40B4-BE49-F238E27FC236}">
                <a16:creationId xmlns:a16="http://schemas.microsoft.com/office/drawing/2014/main" id="{33060CCC-2AF4-474A-9FEA-5274324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VALIDACIÓN</a:t>
            </a:r>
          </a:p>
        </p:txBody>
      </p:sp>
      <p:sp>
        <p:nvSpPr>
          <p:cNvPr id="2" name="texto-fiw5e5-1">
            <a:extLst xmlns:a="http://schemas.openxmlformats.org/drawingml/2006/main">
              <a:ext uri="{FF2B5EF4-FFF2-40B4-BE49-F238E27FC236}">
                <a16:creationId xmlns:a16="http://schemas.microsoft.com/office/drawing/2014/main" id="{EA7A5877-D793-454B-B606-6863A86C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Reglas y límites de entrada</a:t>
            </a:r>
          </a:p>
        </p:txBody>
      </p:sp>
      <p:sp>
        <p:nvSpPr>
          <p:cNvPr id="3" name="texto-fiw5e5-2">
            <a:extLst xmlns:a="http://schemas.openxmlformats.org/drawingml/2006/main">
              <a:ext uri="{FF2B5EF4-FFF2-40B4-BE49-F238E27FC236}">
                <a16:creationId xmlns:a16="http://schemas.microsoft.com/office/drawing/2014/main" id="{62F44127-9CC9-40E4-BA9B-2BF0B587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fiw5e5-3">
            <a:extLst xmlns:a="http://schemas.openxmlformats.org/drawingml/2006/main">
              <a:ext uri="{FF2B5EF4-FFF2-40B4-BE49-F238E27FC236}">
                <a16:creationId xmlns:a16="http://schemas.microsoft.com/office/drawing/2014/main" id="{C1B3AAFF-8B18-4254-9FC1-3E1D262B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texto-fiw5e5-4">
            <a:extLst xmlns:a="http://schemas.openxmlformats.org/drawingml/2006/main">
              <a:ext uri="{FF2B5EF4-FFF2-40B4-BE49-F238E27FC236}">
                <a16:creationId xmlns:a16="http://schemas.microsoft.com/office/drawing/2014/main" id="{DAA3F263-DC95-4455-9769-A7A822D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63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  <p:sp>
        <p:nvSpPr>
          <p:cNvPr id="6" name="texto-fiw5e5-5">
            <a:extLst xmlns:a="http://schemas.openxmlformats.org/drawingml/2006/main">
              <a:ext uri="{FF2B5EF4-FFF2-40B4-BE49-F238E27FC236}">
                <a16:creationId xmlns:a16="http://schemas.microsoft.com/office/drawing/2014/main" id="{03381F47-995F-4AB0-863E-CEAAD09A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objetos en el backend</a:t>
            </a:r>
          </a:p>
        </p:txBody>
      </p:sp>
      <p:sp>
        <p:nvSpPr>
          <p:cNvPr id="7" name="texto-fiw5e5-6">
            <a:extLst xmlns:a="http://schemas.openxmlformats.org/drawingml/2006/main">
              <a:ext uri="{FF2B5EF4-FFF2-40B4-BE49-F238E27FC236}">
                <a16:creationId xmlns:a16="http://schemas.microsoft.com/office/drawing/2014/main" id="{8A80438D-2C2E-4E10-90BF-2FD0D3E7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63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8" name="texto-fiw5e5-7">
            <a:extLst xmlns:a="http://schemas.openxmlformats.org/drawingml/2006/main">
              <a:ext uri="{FF2B5EF4-FFF2-40B4-BE49-F238E27FC236}">
                <a16:creationId xmlns:a16="http://schemas.microsoft.com/office/drawing/2014/main" id="{7EA6ABFF-FEDE-43F7-B55A-152B48D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encantamientos definidos</a:t>
            </a:r>
          </a:p>
        </p:txBody>
      </p:sp>
      <p:sp>
        <p:nvSpPr>
          <p:cNvPr id="9" name="texto-fiw5e5-8">
            <a:extLst xmlns:a="http://schemas.openxmlformats.org/drawingml/2006/main">
              <a:ext uri="{FF2B5EF4-FFF2-40B4-BE49-F238E27FC236}">
                <a16:creationId xmlns:a16="http://schemas.microsoft.com/office/drawing/2014/main" id="{B75FD6F8-4A5D-4E8A-875C-C171BC3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pPr>
            <a:r>
              <a:rPr sz="6300" b="1">
                <a:solidFill>
                  <a:srgbClr val="A76637"/>
                </a:solidFill>
                <a:latin typeface="Calibri"/>
                <a:ea typeface="Calibri"/>
                <a:cs typeface="Calibri"/>
              </a:rPr>
              <a:t>1–8</a:t>
            </a:r>
          </a:p>
        </p:txBody>
      </p:sp>
      <p:sp>
        <p:nvSpPr>
          <p:cNvPr id="10" name="texto-fiw5e5-9">
            <a:extLst xmlns:a="http://schemas.openxmlformats.org/drawingml/2006/main">
              <a:ext uri="{FF2B5EF4-FFF2-40B4-BE49-F238E27FC236}">
                <a16:creationId xmlns:a16="http://schemas.microsoft.com/office/drawing/2014/main" id="{851A83DA-939B-4880-8D93-DCD290B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38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encantamientos por envío</a:t>
            </a:r>
          </a:p>
        </p:txBody>
      </p:sp>
      <p:sp>
        <p:nvSpPr>
          <p:cNvPr id="11" name="texto-fiw5e5-10">
            <a:extLst xmlns:a="http://schemas.openxmlformats.org/drawingml/2006/main">
              <a:ext uri="{FF2B5EF4-FFF2-40B4-BE49-F238E27FC236}">
                <a16:creationId xmlns:a16="http://schemas.microsoft.com/office/drawing/2014/main" id="{8BBA2902-2552-4B8C-9F70-100800F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Niveles dentro del máximo permitido, sin duplicados y con tipos estrictos.</a:t>
            </a:r>
          </a:p>
        </p:txBody>
      </p:sp>
      <p:sp>
        <p:nvSpPr>
          <p:cNvPr id="12" name="texto-fiw5e5-11">
            <a:extLst xmlns:a="http://schemas.openxmlformats.org/drawingml/2006/main">
              <a:ext uri="{FF2B5EF4-FFF2-40B4-BE49-F238E27FC236}">
                <a16:creationId xmlns:a16="http://schemas.microsoft.com/office/drawing/2014/main" id="{937F216F-03DF-4FF0-B2B1-DE2D208F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Ejemplos de rechazo: Filo + Castigo, Fortuna + Toque de seda o Infinidad + Reparación.</a:t>
            </a:r>
          </a:p>
        </p:txBody>
      </p:sp>
    </p:spTree>
    <p:extLst>
      <p:ext uri="{BB962C8B-B14F-4D97-AF65-F5344CB8AC3E}">
        <p14:creationId xmlns:p14="http://schemas.microsoft.com/office/powerpoint/2010/main" val="1201911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-hial5g-0">
            <a:extLst xmlns:a="http://schemas.openxmlformats.org/drawingml/2006/main">
              <a:ext uri="{FF2B5EF4-FFF2-40B4-BE49-F238E27FC236}">
                <a16:creationId xmlns:a16="http://schemas.microsoft.com/office/drawing/2014/main" id="{2899220F-3320-4B53-9BF6-79AFB649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PLAN DE COMBINACIÓN</a:t>
            </a:r>
          </a:p>
        </p:txBody>
      </p:sp>
      <p:sp>
        <p:nvSpPr>
          <p:cNvPr id="2" name="texto-hial5g-1">
            <a:extLst xmlns:a="http://schemas.openxmlformats.org/drawingml/2006/main">
              <a:ext uri="{FF2B5EF4-FFF2-40B4-BE49-F238E27FC236}">
                <a16:creationId xmlns:a16="http://schemas.microsoft.com/office/drawing/2014/main" id="{7AE2D946-67D0-43AA-BB37-FA1488E2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Contrato de respuesta</a:t>
            </a:r>
          </a:p>
        </p:txBody>
      </p:sp>
      <p:sp>
        <p:nvSpPr>
          <p:cNvPr id="3" name="texto-hial5g-2">
            <a:extLst xmlns:a="http://schemas.openxmlformats.org/drawingml/2006/main">
              <a:ext uri="{FF2B5EF4-FFF2-40B4-BE49-F238E27FC236}">
                <a16:creationId xmlns:a16="http://schemas.microsoft.com/office/drawing/2014/main" id="{450E0C63-8C79-469F-90B6-C5555B3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hial5g-3">
            <a:extLst xmlns:a="http://schemas.openxmlformats.org/drawingml/2006/main">
              <a:ext uri="{FF2B5EF4-FFF2-40B4-BE49-F238E27FC236}">
                <a16:creationId xmlns:a16="http://schemas.microsoft.com/office/drawing/2014/main" id="{D6B9CE94-F2EE-410B-876B-F0DF13D1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F83E9-5C86-47CD-BE2B-15B459A8CD50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6924675"/>
              </a:tblGrid>
              <a:tr h="81915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Campo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Contenido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</a:tr>
              <a:tr h="8191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resultado.pasos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Orden, elemento izquierdo, elemento derecho y coste.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coste_total_niveles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Suma de los costes de los pasos.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8191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advertencias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Límite de 40 niveles y carácter estimado del cálculo.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o-hial5g-4">
            <a:extLst xmlns:a="http://schemas.openxmlformats.org/drawingml/2006/main">
              <a:ext uri="{FF2B5EF4-FFF2-40B4-BE49-F238E27FC236}">
                <a16:creationId xmlns:a16="http://schemas.microsoft.com/office/drawing/2014/main" id="{9EEDBF24-0416-400F-88F3-9A6214A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El backend comprueba referencias y coherencia del plan.</a:t>
            </a:r>
          </a:p>
          <a:p xmlns:a="http://schemas.openxmlformats.org/drawingml/2006/main">
            <a:pPr>
              <a:defRPr sz="195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Los costes exactos y el mínimo global siguen sin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90761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4qcaxo-0">
            <a:extLst xmlns:a="http://schemas.openxmlformats.org/drawingml/2006/main">
              <a:ext uri="{FF2B5EF4-FFF2-40B4-BE49-F238E27FC236}">
                <a16:creationId xmlns:a16="http://schemas.microsoft.com/office/drawing/2014/main" id="{BC81A296-349F-4220-A45F-8B178FD2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CALIDAD</a:t>
            </a:r>
          </a:p>
        </p:txBody>
      </p:sp>
      <p:sp>
        <p:nvSpPr>
          <p:cNvPr id="2" name="texto-4qcaxo-1">
            <a:extLst xmlns:a="http://schemas.openxmlformats.org/drawingml/2006/main">
              <a:ext uri="{FF2B5EF4-FFF2-40B4-BE49-F238E27FC236}">
                <a16:creationId xmlns:a16="http://schemas.microsoft.com/office/drawing/2014/main" id="{BD23C00B-15E3-41B1-9E00-484400C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Seguridad y requisitos de calidad</a:t>
            </a:r>
          </a:p>
        </p:txBody>
      </p:sp>
      <p:sp>
        <p:nvSpPr>
          <p:cNvPr id="3" name="texto-4qcaxo-2">
            <a:extLst xmlns:a="http://schemas.openxmlformats.org/drawingml/2006/main">
              <a:ext uri="{FF2B5EF4-FFF2-40B4-BE49-F238E27FC236}">
                <a16:creationId xmlns:a16="http://schemas.microsoft.com/office/drawing/2014/main" id="{D3A3DDF9-004B-4C9B-AB41-842FA4A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4qcaxo-3">
            <a:extLst xmlns:a="http://schemas.openxmlformats.org/drawingml/2006/main">
              <a:ext uri="{FF2B5EF4-FFF2-40B4-BE49-F238E27FC236}">
                <a16:creationId xmlns:a16="http://schemas.microsoft.com/office/drawing/2014/main" id="{59FDCDA8-16CF-4566-A676-B5D8C56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texto-4qcaxo-4">
            <a:extLst xmlns:a="http://schemas.openxmlformats.org/drawingml/2006/main">
              <a:ext uri="{FF2B5EF4-FFF2-40B4-BE49-F238E27FC236}">
                <a16:creationId xmlns:a16="http://schemas.microsoft.com/office/drawing/2014/main" id="{F0897257-E870-4D34-BDEC-3862226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Clave privada en el servidor</a:t>
            </a:r>
          </a:p>
        </p:txBody>
      </p:sp>
      <p:sp>
        <p:nvSpPr>
          <p:cNvPr id="6" name="texto-4qcaxo-5">
            <a:extLst xmlns:a="http://schemas.openxmlformats.org/drawingml/2006/main">
              <a:ext uri="{FF2B5EF4-FFF2-40B4-BE49-F238E27FC236}">
                <a16:creationId xmlns:a16="http://schemas.microsoft.com/office/drawing/2014/main" id="{729445E1-8F0C-4350-83AD-4FBD78A1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OPENROUTER_API_KEY no pertenece a las variables públicas de Vite.</a:t>
            </a:r>
          </a:p>
        </p:txBody>
      </p:sp>
      <p:sp>
        <p:nvSpPr>
          <p:cNvPr id="7" name="texto-4qcaxo-6">
            <a:extLst xmlns:a="http://schemas.openxmlformats.org/drawingml/2006/main">
              <a:ext uri="{FF2B5EF4-FFF2-40B4-BE49-F238E27FC236}">
                <a16:creationId xmlns:a16="http://schemas.microsoft.com/office/drawing/2014/main" id="{B7CEC870-C4FA-4141-9C56-9F6EACFF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Entradas acotadas</a:t>
            </a:r>
          </a:p>
        </p:txBody>
      </p:sp>
      <p:sp>
        <p:nvSpPr>
          <p:cNvPr id="8" name="texto-4qcaxo-7">
            <a:extLst xmlns:a="http://schemas.openxmlformats.org/drawingml/2006/main">
              <a:ext uri="{FF2B5EF4-FFF2-40B4-BE49-F238E27FC236}">
                <a16:creationId xmlns:a16="http://schemas.microsoft.com/office/drawing/2014/main" id="{9308762B-CC51-4CCE-A0EF-39E1206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Listas cerradas, tipos estrictos y rechazo de campos adicionales.</a:t>
            </a:r>
          </a:p>
        </p:txBody>
      </p:sp>
      <p:sp>
        <p:nvSpPr>
          <p:cNvPr id="9" name="texto-4qcaxo-8">
            <a:extLst xmlns:a="http://schemas.openxmlformats.org/drawingml/2006/main">
              <a:ext uri="{FF2B5EF4-FFF2-40B4-BE49-F238E27FC236}">
                <a16:creationId xmlns:a16="http://schemas.microsoft.com/office/drawing/2014/main" id="{AA7C8AF2-656A-4A6A-874C-50BDF9F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Espera limitada</a:t>
            </a:r>
          </a:p>
        </p:txBody>
      </p:sp>
      <p:sp>
        <p:nvSpPr>
          <p:cNvPr id="10" name="texto-4qcaxo-9">
            <a:extLst xmlns:a="http://schemas.openxmlformats.org/drawingml/2006/main">
              <a:ext uri="{FF2B5EF4-FFF2-40B4-BE49-F238E27FC236}">
                <a16:creationId xmlns:a16="http://schemas.microsoft.com/office/drawing/2014/main" id="{F9AC849A-9070-4470-9F72-E681E41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Timeout configurable, con máximo admitido de 60 segundos.</a:t>
            </a:r>
          </a:p>
        </p:txBody>
      </p:sp>
      <p:sp>
        <p:nvSpPr>
          <p:cNvPr id="11" name="texto-4qcaxo-10">
            <a:extLst xmlns:a="http://schemas.openxmlformats.org/drawingml/2006/main">
              <a:ext uri="{FF2B5EF4-FFF2-40B4-BE49-F238E27FC236}">
                <a16:creationId xmlns:a16="http://schemas.microsoft.com/office/drawing/2014/main" id="{490C38E5-614A-4B17-B3C4-02605E41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Privacidad pendiente de pulir</a:t>
            </a:r>
          </a:p>
        </p:txBody>
      </p:sp>
      <p:sp>
        <p:nvSpPr>
          <p:cNvPr id="12" name="texto-4qcaxo-11">
            <a:extLst xmlns:a="http://schemas.openxmlformats.org/drawingml/2006/main">
              <a:ext uri="{FF2B5EF4-FFF2-40B4-BE49-F238E27FC236}">
                <a16:creationId xmlns:a16="http://schemas.microsoft.com/office/drawing/2014/main" id="{16B9E14F-4911-4940-A843-44933DF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Eliminar de los logs fragmentos del proveedor y planes rechazados.</a:t>
            </a:r>
          </a:p>
        </p:txBody>
      </p:sp>
    </p:spTree>
    <p:extLst>
      <p:ext uri="{BB962C8B-B14F-4D97-AF65-F5344CB8AC3E}">
        <p14:creationId xmlns:p14="http://schemas.microsoft.com/office/powerpoint/2010/main" val="15664853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65F40-8CF9-4F62-A9D0-9069B7672D8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3309938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93309-9D13-4582-952E-A3D8F3B1FE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67100" y="3309938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sp>
        <p:nvSpPr>
          <p:cNvPr id="16" name="texto-jy92u0-0">
            <a:extLst xmlns:a="http://schemas.openxmlformats.org/drawingml/2006/main">
              <a:ext uri="{FF2B5EF4-FFF2-40B4-BE49-F238E27FC236}">
                <a16:creationId xmlns:a16="http://schemas.microsoft.com/office/drawing/2014/main" id="{66AE74E7-5F2A-43B2-9256-F08E949A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DIAGRAMA DE CONTEXTO</a:t>
            </a:r>
          </a:p>
        </p:txBody>
      </p:sp>
      <p:sp>
        <p:nvSpPr>
          <p:cNvPr id="2" name="texto-jy92u0-1">
            <a:extLst xmlns:a="http://schemas.openxmlformats.org/drawingml/2006/main">
              <a:ext uri="{FF2B5EF4-FFF2-40B4-BE49-F238E27FC236}">
                <a16:creationId xmlns:a16="http://schemas.microsoft.com/office/drawing/2014/main" id="{30401917-1378-43A9-84B4-BABD5A4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Arquitectura de App 1</a:t>
            </a:r>
          </a:p>
        </p:txBody>
      </p:sp>
      <p:sp>
        <p:nvSpPr>
          <p:cNvPr id="3" name="texto-jy92u0-2">
            <a:extLst xmlns:a="http://schemas.openxmlformats.org/drawingml/2006/main">
              <a:ext uri="{FF2B5EF4-FFF2-40B4-BE49-F238E27FC236}">
                <a16:creationId xmlns:a16="http://schemas.microsoft.com/office/drawing/2014/main" id="{96031422-4B12-4426-B8CA-2A5B596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jy92u0-3">
            <a:extLst xmlns:a="http://schemas.openxmlformats.org/drawingml/2006/main">
              <a:ext uri="{FF2B5EF4-FFF2-40B4-BE49-F238E27FC236}">
                <a16:creationId xmlns:a16="http://schemas.microsoft.com/office/drawing/2014/main" id="{54954CC5-1D5B-4134-9E9A-E134C2F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DF9EF-604A-4D87-BA22-D7732D81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Navegador</a:t>
            </a:r>
          </a:p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Vue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229A9-CBCD-424A-9D2C-CB090F3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Backend</a:t>
            </a:r>
          </a:p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B708A-B891-49B5-A79E-4D1B02C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14625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API externa</a:t>
            </a:r>
          </a:p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OpenRouter</a:t>
            </a:r>
          </a:p>
        </p:txBody>
      </p:sp>
      <p:sp>
        <p:nvSpPr>
          <p:cNvPr id="10" name="texto-jy92u0-9">
            <a:extLst xmlns:a="http://schemas.openxmlformats.org/drawingml/2006/main">
              <a:ext uri="{FF2B5EF4-FFF2-40B4-BE49-F238E27FC236}">
                <a16:creationId xmlns:a16="http://schemas.microsoft.com/office/drawing/2014/main" id="{703BC29F-368C-4948-84A6-8F3577EB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JSON / HTTP</a:t>
            </a:r>
          </a:p>
        </p:txBody>
      </p:sp>
      <p:sp>
        <p:nvSpPr>
          <p:cNvPr id="11" name="texto-jy92u0-10">
            <a:extLst xmlns:a="http://schemas.openxmlformats.org/drawingml/2006/main">
              <a:ext uri="{FF2B5EF4-FFF2-40B4-BE49-F238E27FC236}">
                <a16:creationId xmlns:a16="http://schemas.microsoft.com/office/drawing/2014/main" id="{617DC8A1-D061-4D91-9BDD-0362730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HTTPS / clave privada</a:t>
            </a:r>
          </a:p>
        </p:txBody>
      </p:sp>
      <p:sp>
        <p:nvSpPr>
          <p:cNvPr id="12" name="texto-jy92u0-11">
            <a:extLst xmlns:a="http://schemas.openxmlformats.org/drawingml/2006/main">
              <a:ext uri="{FF2B5EF4-FFF2-40B4-BE49-F238E27FC236}">
                <a16:creationId xmlns:a16="http://schemas.microsoft.com/office/drawing/2014/main" id="{5BAD102B-3376-4CAD-B0B0-0194B0EF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Formulario y resultado</a:t>
            </a:r>
          </a:p>
        </p:txBody>
      </p:sp>
      <p:sp>
        <p:nvSpPr>
          <p:cNvPr id="13" name="texto-jy92u0-12">
            <a:extLst xmlns:a="http://schemas.openxmlformats.org/drawingml/2006/main">
              <a:ext uri="{FF2B5EF4-FFF2-40B4-BE49-F238E27FC236}">
                <a16:creationId xmlns:a16="http://schemas.microsoft.com/office/drawing/2014/main" id="{D378E5CA-FE43-4DBC-A039-CC37445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Valida y transforma</a:t>
            </a:r>
          </a:p>
        </p:txBody>
      </p:sp>
      <p:sp>
        <p:nvSpPr>
          <p:cNvPr id="14" name="texto-jy92u0-13">
            <a:extLst xmlns:a="http://schemas.openxmlformats.org/drawingml/2006/main">
              <a:ext uri="{FF2B5EF4-FFF2-40B4-BE49-F238E27FC236}">
                <a16:creationId xmlns:a16="http://schemas.microsoft.com/office/drawing/2014/main" id="{80CC11A1-F9DB-4B3A-9AB5-6DA394B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Genera la propuesta</a:t>
            </a:r>
          </a:p>
        </p:txBody>
      </p:sp>
      <p:sp>
        <p:nvSpPr>
          <p:cNvPr id="15" name="texto-jy92u0-14">
            <a:extLst xmlns:a="http://schemas.openxmlformats.org/drawingml/2006/main">
              <a:ext uri="{FF2B5EF4-FFF2-40B4-BE49-F238E27FC236}">
                <a16:creationId xmlns:a16="http://schemas.microsoft.com/office/drawing/2014/main" id="{6AB8D4C2-0FD9-4228-8316-9AEDD71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El navegador recibe el contrato público de FastAPI, no la respuesta completa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201182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o-4vb6sj-0">
            <a:extLst xmlns:a="http://schemas.openxmlformats.org/drawingml/2006/main">
              <a:ext uri="{FF2B5EF4-FFF2-40B4-BE49-F238E27FC236}">
                <a16:creationId xmlns:a16="http://schemas.microsoft.com/office/drawing/2014/main" id="{5A77AE75-2F1B-4941-B6E4-F6A06A4A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DIAGRAMA DE SECUENCIA</a:t>
            </a:r>
          </a:p>
        </p:txBody>
      </p:sp>
      <p:sp>
        <p:nvSpPr>
          <p:cNvPr id="2" name="texto-4vb6sj-1">
            <a:extLst xmlns:a="http://schemas.openxmlformats.org/drawingml/2006/main">
              <a:ext uri="{FF2B5EF4-FFF2-40B4-BE49-F238E27FC236}">
                <a16:creationId xmlns:a16="http://schemas.microsoft.com/office/drawing/2014/main" id="{43A45384-B6BB-4384-A91A-6626799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Secuencia de una petición válida</a:t>
            </a:r>
          </a:p>
        </p:txBody>
      </p:sp>
      <p:sp>
        <p:nvSpPr>
          <p:cNvPr id="3" name="texto-4vb6sj-2">
            <a:extLst xmlns:a="http://schemas.openxmlformats.org/drawingml/2006/main">
              <a:ext uri="{FF2B5EF4-FFF2-40B4-BE49-F238E27FC236}">
                <a16:creationId xmlns:a16="http://schemas.microsoft.com/office/drawing/2014/main" id="{8270A483-3B76-41A2-A112-419D9F4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4vb6sj-3">
            <a:extLst xmlns:a="http://schemas.openxmlformats.org/drawingml/2006/main">
              <a:ext uri="{FF2B5EF4-FFF2-40B4-BE49-F238E27FC236}">
                <a16:creationId xmlns:a16="http://schemas.microsoft.com/office/drawing/2014/main" id="{74C537A2-981E-42AD-9631-A906B85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" name="texto-4vb6sj-4">
            <a:extLst xmlns:a="http://schemas.openxmlformats.org/drawingml/2006/main">
              <a:ext uri="{FF2B5EF4-FFF2-40B4-BE49-F238E27FC236}">
                <a16:creationId xmlns:a16="http://schemas.microsoft.com/office/drawing/2014/main" id="{F69A8864-28D6-4460-8266-37642832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Usuario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C2146-129A-433F-A780-612A14A84D91}"/>
              </a:ext>
            </a:extLst>
          </p:cNvPr>
          <p:cNvCxnSpPr/>
          <p:nvPr/>
        </p:nvCxnSpPr>
        <p:spPr>
          <a:xfrm xmlns:a="http://schemas.openxmlformats.org/drawingml/2006/main">
            <a:off x="1524000" y="2324100"/>
            <a:ext cx="0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</a:ln>
        </p:spPr>
      </p:cxnSp>
      <p:sp>
        <p:nvSpPr>
          <p:cNvPr id="7" name="texto-4vb6sj-6">
            <a:extLst xmlns:a="http://schemas.openxmlformats.org/drawingml/2006/main">
              <a:ext uri="{FF2B5EF4-FFF2-40B4-BE49-F238E27FC236}">
                <a16:creationId xmlns:a16="http://schemas.microsoft.com/office/drawing/2014/main" id="{30A2F3EB-8AE9-41B3-A962-45CBA109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AE1FC-1101-4D42-9A76-DD62808D6B86}"/>
              </a:ext>
            </a:extLst>
          </p:cNvPr>
          <p:cNvCxnSpPr/>
          <p:nvPr/>
        </p:nvCxnSpPr>
        <p:spPr>
          <a:xfrm xmlns:a="http://schemas.openxmlformats.org/drawingml/2006/main">
            <a:off x="4429125" y="2324100"/>
            <a:ext cx="0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</a:ln>
        </p:spPr>
      </p:cxnSp>
      <p:sp>
        <p:nvSpPr>
          <p:cNvPr id="9" name="texto-4vb6sj-8">
            <a:extLst xmlns:a="http://schemas.openxmlformats.org/drawingml/2006/main">
              <a:ext uri="{FF2B5EF4-FFF2-40B4-BE49-F238E27FC236}">
                <a16:creationId xmlns:a16="http://schemas.microsoft.com/office/drawing/2014/main" id="{279C16F9-8D0D-4FC3-B572-F1581A1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FastAPI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9393C-2E71-43C6-B524-95619B5B0D35}"/>
              </a:ext>
            </a:extLst>
          </p:cNvPr>
          <p:cNvCxnSpPr/>
          <p:nvPr/>
        </p:nvCxnSpPr>
        <p:spPr>
          <a:xfrm xmlns:a="http://schemas.openxmlformats.org/drawingml/2006/main">
            <a:off x="7572375" y="2324100"/>
            <a:ext cx="0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</a:ln>
        </p:spPr>
      </p:cxnSp>
      <p:sp>
        <p:nvSpPr>
          <p:cNvPr id="11" name="texto-4vb6sj-10">
            <a:extLst xmlns:a="http://schemas.openxmlformats.org/drawingml/2006/main">
              <a:ext uri="{FF2B5EF4-FFF2-40B4-BE49-F238E27FC236}">
                <a16:creationId xmlns:a16="http://schemas.microsoft.com/office/drawing/2014/main" id="{B052B68B-938C-4F46-BDC2-59002CB7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OpenRouter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BCEA8-EB0F-448F-A03C-5C14274F4F18}"/>
              </a:ext>
            </a:extLst>
          </p:cNvPr>
          <p:cNvCxnSpPr/>
          <p:nvPr/>
        </p:nvCxnSpPr>
        <p:spPr>
          <a:xfrm xmlns:a="http://schemas.openxmlformats.org/drawingml/2006/main">
            <a:off x="10620375" y="2324100"/>
            <a:ext cx="0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01E2A-2CD9-4959-A456-C31195FCB214}"/>
              </a:ext>
            </a:extLst>
          </p:cNvPr>
          <p:cNvCxnSpPr/>
          <p:nvPr/>
        </p:nvCxnSpPr>
        <p:spPr>
          <a:xfrm xmlns:a="http://schemas.openxmlformats.org/drawingml/2006/main">
            <a:off x="1524000" y="2714625"/>
            <a:ext cx="2905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sp>
        <p:nvSpPr>
          <p:cNvPr id="14" name="texto-4vb6sj-13">
            <a:extLst xmlns:a="http://schemas.openxmlformats.org/drawingml/2006/main">
              <a:ext uri="{FF2B5EF4-FFF2-40B4-BE49-F238E27FC236}">
                <a16:creationId xmlns:a16="http://schemas.microsoft.com/office/drawing/2014/main" id="{63AE896F-A90E-4B60-9300-68D58BB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907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Enviar formulario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BF82F-1CB8-4CC2-92C8-6DD9B0E39ED5}"/>
              </a:ext>
            </a:extLst>
          </p:cNvPr>
          <p:cNvCxnSpPr/>
          <p:nvPr/>
        </p:nvCxnSpPr>
        <p:spPr>
          <a:xfrm xmlns:a="http://schemas.openxmlformats.org/drawingml/2006/main">
            <a:off x="4429125" y="3333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sp>
        <p:nvSpPr>
          <p:cNvPr id="16" name="texto-4vb6sj-15">
            <a:extLst xmlns:a="http://schemas.openxmlformats.org/drawingml/2006/main">
              <a:ext uri="{FF2B5EF4-FFF2-40B4-BE49-F238E27FC236}">
                <a16:creationId xmlns:a16="http://schemas.microsoft.com/office/drawing/2014/main" id="{3F98F828-3B7A-4742-8753-B5236D0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9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POST /api/procesar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39CB1-DE1A-4CD1-A07C-F20D3C7E22FA}"/>
              </a:ext>
            </a:extLst>
          </p:cNvPr>
          <p:cNvCxnSpPr/>
          <p:nvPr/>
        </p:nvCxnSpPr>
        <p:spPr>
          <a:xfrm xmlns:a="http://schemas.openxmlformats.org/drawingml/2006/main">
            <a:off x="7572375" y="40957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sp>
        <p:nvSpPr>
          <p:cNvPr id="18" name="texto-4vb6sj-17">
            <a:extLst xmlns:a="http://schemas.openxmlformats.org/drawingml/2006/main">
              <a:ext uri="{FF2B5EF4-FFF2-40B4-BE49-F238E27FC236}">
                <a16:creationId xmlns:a16="http://schemas.microsoft.com/office/drawing/2014/main" id="{9229BEFD-1093-4B54-924E-85FBAFE4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71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Una consulta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F62D0-60E6-48A6-8CAC-36A9B30E63E1}"/>
              </a:ext>
            </a:extLst>
          </p:cNvPr>
          <p:cNvCxnSpPr/>
          <p:nvPr/>
        </p:nvCxnSpPr>
        <p:spPr>
          <a:xfrm xmlns:a="http://schemas.openxmlformats.org/drawingml/2006/main">
            <a:off x="7572375" y="47625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headEnd type="arrow" w="med" len="med"/>
          </a:ln>
        </p:spPr>
      </p:cxnSp>
      <p:sp>
        <p:nvSpPr>
          <p:cNvPr id="20" name="texto-4vb6sj-19">
            <a:extLst xmlns:a="http://schemas.openxmlformats.org/drawingml/2006/main">
              <a:ext uri="{FF2B5EF4-FFF2-40B4-BE49-F238E27FC236}">
                <a16:creationId xmlns:a16="http://schemas.microsoft.com/office/drawing/2014/main" id="{91709878-7E4F-4E8F-90E3-6BE0B00E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38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Plan generado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33F4C-C4BC-433B-AFF2-4730BC79DCBB}"/>
              </a:ext>
            </a:extLst>
          </p:cNvPr>
          <p:cNvCxnSpPr/>
          <p:nvPr/>
        </p:nvCxnSpPr>
        <p:spPr>
          <a:xfrm xmlns:a="http://schemas.openxmlformats.org/drawingml/2006/main">
            <a:off x="4429125" y="53816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headEnd type="arrow" w="med" len="med"/>
          </a:ln>
        </p:spPr>
      </p:cxnSp>
      <p:sp>
        <p:nvSpPr>
          <p:cNvPr id="22" name="texto-4vb6sj-21">
            <a:extLst xmlns:a="http://schemas.openxmlformats.org/drawingml/2006/main">
              <a:ext uri="{FF2B5EF4-FFF2-40B4-BE49-F238E27FC236}">
                <a16:creationId xmlns:a16="http://schemas.microsoft.com/office/drawing/2014/main" id="{226C19E4-A934-4649-AA4A-ED0427D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57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200 / JSON validado</a:t>
            </a:r>
          </a:p>
        </p:txBody>
      </p:sp>
      <p:sp>
        <p:nvSpPr>
          <p:cNvPr id="23" name="texto-4vb6sj-22">
            <a:extLst xmlns:a="http://schemas.openxmlformats.org/drawingml/2006/main">
              <a:ext uri="{FF2B5EF4-FFF2-40B4-BE49-F238E27FC236}">
                <a16:creationId xmlns:a16="http://schemas.microsoft.com/office/drawing/2014/main" id="{56713F4B-96EB-4F3F-93F0-1A6582EE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61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A76637"/>
                </a:solidFill>
                <a:latin typeface="Calibri"/>
                <a:ea typeface="Calibri"/>
                <a:cs typeface="Calibri"/>
              </a:rPr>
              <a:t>Validar entrada</a:t>
            </a:r>
          </a:p>
        </p:txBody>
      </p:sp>
      <p:sp>
        <p:nvSpPr>
          <p:cNvPr id="24" name="texto-4vb6sj-23">
            <a:extLst xmlns:a="http://schemas.openxmlformats.org/drawingml/2006/main">
              <a:ext uri="{FF2B5EF4-FFF2-40B4-BE49-F238E27FC236}">
                <a16:creationId xmlns:a16="http://schemas.microsoft.com/office/drawing/2014/main" id="{ACDEAA47-23CA-4FA4-BBF4-47CADDA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A76637"/>
                </a:solidFill>
                <a:latin typeface="Calibri"/>
                <a:ea typeface="Calibri"/>
                <a:cs typeface="Calibri"/>
              </a:rPr>
              <a:t>Validar plan</a:t>
            </a:r>
          </a:p>
        </p:txBody>
      </p:sp>
      <p:sp>
        <p:nvSpPr>
          <p:cNvPr id="25" name="texto-4vb6sj-24">
            <a:extLst xmlns:a="http://schemas.openxmlformats.org/drawingml/2006/main">
              <a:ext uri="{FF2B5EF4-FFF2-40B4-BE49-F238E27FC236}">
                <a16:creationId xmlns:a16="http://schemas.microsoft.com/office/drawing/2014/main" id="{F6919FEE-A2ED-4123-93E9-388CB8C3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05500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Resultado en la misma pantalla</a:t>
            </a:r>
          </a:p>
        </p:txBody>
      </p:sp>
    </p:spTree>
    <p:extLst>
      <p:ext uri="{BB962C8B-B14F-4D97-AF65-F5344CB8AC3E}">
        <p14:creationId xmlns:p14="http://schemas.microsoft.com/office/powerpoint/2010/main" val="14672686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-3njqlr-0">
            <a:extLst xmlns:a="http://schemas.openxmlformats.org/drawingml/2006/main">
              <a:ext uri="{FF2B5EF4-FFF2-40B4-BE49-F238E27FC236}">
                <a16:creationId xmlns:a16="http://schemas.microsoft.com/office/drawing/2014/main" id="{83A6A615-40A4-4D6B-8FA8-C0A5B05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CONTRATO HTTP</a:t>
            </a:r>
          </a:p>
        </p:txBody>
      </p:sp>
      <p:sp>
        <p:nvSpPr>
          <p:cNvPr id="2" name="texto-3njqlr-1">
            <a:extLst xmlns:a="http://schemas.openxmlformats.org/drawingml/2006/main">
              <a:ext uri="{FF2B5EF4-FFF2-40B4-BE49-F238E27FC236}">
                <a16:creationId xmlns:a16="http://schemas.microsoft.com/office/drawing/2014/main" id="{11986B2F-3341-4AB6-AC18-438BA1A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Errores y recuperación</a:t>
            </a:r>
          </a:p>
        </p:txBody>
      </p:sp>
      <p:sp>
        <p:nvSpPr>
          <p:cNvPr id="3" name="texto-3njqlr-2">
            <a:extLst xmlns:a="http://schemas.openxmlformats.org/drawingml/2006/main">
              <a:ext uri="{FF2B5EF4-FFF2-40B4-BE49-F238E27FC236}">
                <a16:creationId xmlns:a16="http://schemas.microsoft.com/office/drawing/2014/main" id="{A4642FD4-C448-48D1-AFB1-14E26595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3njqlr-3">
            <a:extLst xmlns:a="http://schemas.openxmlformats.org/drawingml/2006/main">
              <a:ext uri="{FF2B5EF4-FFF2-40B4-BE49-F238E27FC236}">
                <a16:creationId xmlns:a16="http://schemas.microsoft.com/office/drawing/2014/main" id="{E672F503-B40B-49E1-9CC4-EF734A0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6C9C8-7881-4C96-ABC2-6BAA21CF3279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4095750"/>
                <a:gridCol w="5686425"/>
              </a:tblGrid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Situación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422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VALIDACION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Entrada inválida. No se consulta IA.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502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IA_NO_DISPONIBLE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Fallo externo o configuración incompleta.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502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RESPUESTA_INVALIDA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Contenido truncado o plan incoherente.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504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IA_TIMEOUT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El backend agota el plazo de espera.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</a:tbl>
          </a:graphicData>
        </a:graphic>
      </p:graphicFrame>
      <p:sp>
        <p:nvSpPr>
          <p:cNvPr id="6" name="texto-3njqlr-4">
            <a:extLst xmlns:a="http://schemas.openxmlformats.org/drawingml/2006/main">
              <a:ext uri="{FF2B5EF4-FFF2-40B4-BE49-F238E27FC236}">
                <a16:creationId xmlns:a16="http://schemas.microsoft.com/office/drawing/2014/main" id="{D376B696-3EC4-45FE-AFEA-D88215A4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El frontend muestra el mensaje y permite otro envío manual.</a:t>
            </a:r>
          </a:p>
        </p:txBody>
      </p:sp>
    </p:spTree>
    <p:extLst>
      <p:ext uri="{BB962C8B-B14F-4D97-AF65-F5344CB8AC3E}">
        <p14:creationId xmlns:p14="http://schemas.microsoft.com/office/powerpoint/2010/main" val="2312470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0B94B-F7F7-4D29-9B6B-1021950D02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3143250"/>
            <a:ext cx="17145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5D76A-B90B-4C8A-9181-1BB598951E6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34250" y="2524125"/>
            <a:ext cx="17145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6F6B5-9890-402F-955F-6AA15CF4A0F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143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4294"/>
            </a:solidFill>
            <a:tailEnd type="arrow" w="med" len="med"/>
          </a:ln>
        </p:spPr>
      </p:cxnSp>
      <p:sp>
        <p:nvSpPr>
          <p:cNvPr id="18" name="texto-rkqfhk-0">
            <a:extLst xmlns:a="http://schemas.openxmlformats.org/drawingml/2006/main">
              <a:ext uri="{FF2B5EF4-FFF2-40B4-BE49-F238E27FC236}">
                <a16:creationId xmlns:a16="http://schemas.microsoft.com/office/drawing/2014/main" id="{3FDE8AB3-1205-4FD0-8EAC-0B9B04E2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INTERFAZ</a:t>
            </a:r>
          </a:p>
        </p:txBody>
      </p:sp>
      <p:sp>
        <p:nvSpPr>
          <p:cNvPr id="2" name="texto-rkqfhk-1">
            <a:extLst xmlns:a="http://schemas.openxmlformats.org/drawingml/2006/main">
              <a:ext uri="{FF2B5EF4-FFF2-40B4-BE49-F238E27FC236}">
                <a16:creationId xmlns:a16="http://schemas.microsoft.com/office/drawing/2014/main" id="{249B80E8-3AE1-496D-9806-CC8DC4FE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Estados del frontend</a:t>
            </a:r>
          </a:p>
        </p:txBody>
      </p:sp>
      <p:sp>
        <p:nvSpPr>
          <p:cNvPr id="3" name="texto-rkqfhk-2">
            <a:extLst xmlns:a="http://schemas.openxmlformats.org/drawingml/2006/main">
              <a:ext uri="{FF2B5EF4-FFF2-40B4-BE49-F238E27FC236}">
                <a16:creationId xmlns:a16="http://schemas.microsoft.com/office/drawing/2014/main" id="{8C511210-A797-4958-A72A-53A688B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rkqfhk-3">
            <a:extLst xmlns:a="http://schemas.openxmlformats.org/drawingml/2006/main">
              <a:ext uri="{FF2B5EF4-FFF2-40B4-BE49-F238E27FC236}">
                <a16:creationId xmlns:a16="http://schemas.microsoft.com/office/drawing/2014/main" id="{25A578D3-450F-431C-98D5-0D285D8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BB82C-88A4-4785-BA59-25554DA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79754-FF40-414F-8B97-6687A832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espera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F8709-B653-4107-BF93-015711F6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F497D-4746-426B-9B4E-F47BDCC2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38625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EF"/>
          </a:solidFill>
          <a:ln xmlns:a="http://schemas.openxmlformats.org/drawingml/2006/main" w="19050">
            <a:solidFill>
              <a:srgbClr val="634294"/>
            </a:solidFill>
          </a:ln>
        </p:spPr>
        <p:txBody>
          <a:bodyPr xmlns:a="http://schemas.openxmlformats.org/drawingml/2006/main" lIns="142875" tIns="142875" rIns="142875" bIns="142875" anchor="ctr"/>
          <a:lstStyle xmlns:a="http://schemas.openxmlformats.org/drawingml/2006/main">
            <a:def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error</a:t>
            </a:r>
          </a:p>
        </p:txBody>
      </p:sp>
      <p:sp>
        <p:nvSpPr>
          <p:cNvPr id="12" name="texto-rkqfhk-11">
            <a:extLst xmlns:a="http://schemas.openxmlformats.org/drawingml/2006/main">
              <a:ext uri="{FF2B5EF4-FFF2-40B4-BE49-F238E27FC236}">
                <a16:creationId xmlns:a16="http://schemas.microsoft.com/office/drawing/2014/main" id="{E4BA53C8-050E-4B0E-B012-9EC7EFB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289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Enviar</a:t>
            </a:r>
          </a:p>
        </p:txBody>
      </p:sp>
      <p:sp>
        <p:nvSpPr>
          <p:cNvPr id="13" name="texto-rkqfhk-12">
            <a:extLst xmlns:a="http://schemas.openxmlformats.org/drawingml/2006/main">
              <a:ext uri="{FF2B5EF4-FFF2-40B4-BE49-F238E27FC236}">
                <a16:creationId xmlns:a16="http://schemas.microsoft.com/office/drawing/2014/main" id="{4832D525-7D9D-4317-B137-026E741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200 válido</a:t>
            </a:r>
          </a:p>
        </p:txBody>
      </p:sp>
      <p:sp>
        <p:nvSpPr>
          <p:cNvPr id="14" name="texto-rkqfhk-13">
            <a:extLst xmlns:a="http://schemas.openxmlformats.org/drawingml/2006/main">
              <a:ext uri="{FF2B5EF4-FFF2-40B4-BE49-F238E27FC236}">
                <a16:creationId xmlns:a16="http://schemas.microsoft.com/office/drawing/2014/main" id="{17E583F0-4079-4049-A0B0-93960A5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195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7663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A76637"/>
                </a:solidFill>
                <a:latin typeface="Calibri"/>
                <a:ea typeface="Calibri"/>
                <a:cs typeface="Calibri"/>
              </a:rPr>
              <a:t>Fallo</a:t>
            </a:r>
          </a:p>
        </p:txBody>
      </p:sp>
      <p:sp>
        <p:nvSpPr>
          <p:cNvPr id="15" name="texto-rkqfhk-14">
            <a:extLst xmlns:a="http://schemas.openxmlformats.org/drawingml/2006/main">
              <a:ext uri="{FF2B5EF4-FFF2-40B4-BE49-F238E27FC236}">
                <a16:creationId xmlns:a16="http://schemas.microsoft.com/office/drawing/2014/main" id="{29A6282F-0881-4A28-9626-4772D52C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Formulario editable</a:t>
            </a:r>
          </a:p>
        </p:txBody>
      </p:sp>
      <p:sp>
        <p:nvSpPr>
          <p:cNvPr id="16" name="texto-rkqfhk-15">
            <a:extLst xmlns:a="http://schemas.openxmlformats.org/drawingml/2006/main">
              <a:ext uri="{FF2B5EF4-FFF2-40B4-BE49-F238E27FC236}">
                <a16:creationId xmlns:a16="http://schemas.microsoft.com/office/drawing/2014/main" id="{0B9DFAA0-4F43-4BBF-AF20-7AEE131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Botón desactivado</a:t>
            </a:r>
          </a:p>
          <a:p xmlns:a="http://schemas.openxmlformats.org/drawingml/2006/main">
            <a:pPr>
              <a:defRPr sz="195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Resultado anterior oculto</a:t>
            </a:r>
          </a:p>
        </p:txBody>
      </p:sp>
      <p:sp>
        <p:nvSpPr>
          <p:cNvPr id="17" name="texto-rkqfhk-16">
            <a:extLst xmlns:a="http://schemas.openxmlformats.org/drawingml/2006/main">
              <a:ext uri="{FF2B5EF4-FFF2-40B4-BE49-F238E27FC236}">
                <a16:creationId xmlns:a16="http://schemas.microsoft.com/office/drawing/2014/main" id="{D23EDF8C-0DF7-4D60-92F2-2212B7CB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Tras el resultado o error, el usuario puede realizar una nueva consulta.</a:t>
            </a:r>
          </a:p>
        </p:txBody>
      </p:sp>
    </p:spTree>
    <p:extLst>
      <p:ext uri="{BB962C8B-B14F-4D97-AF65-F5344CB8AC3E}">
        <p14:creationId xmlns:p14="http://schemas.microsoft.com/office/powerpoint/2010/main" val="13068694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216ah6-0">
            <a:extLst xmlns:a="http://schemas.openxmlformats.org/drawingml/2006/main">
              <a:ext uri="{FF2B5EF4-FFF2-40B4-BE49-F238E27FC236}">
                <a16:creationId xmlns:a16="http://schemas.microsoft.com/office/drawing/2014/main" id="{A9A5FC1D-2A2A-4E61-B404-48DCDA4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IA</a:t>
            </a:r>
          </a:p>
        </p:txBody>
      </p:sp>
      <p:sp>
        <p:nvSpPr>
          <p:cNvPr id="2" name="texto-216ah6-1">
            <a:extLst xmlns:a="http://schemas.openxmlformats.org/drawingml/2006/main">
              <a:ext uri="{FF2B5EF4-FFF2-40B4-BE49-F238E27FC236}">
                <a16:creationId xmlns:a16="http://schemas.microsoft.com/office/drawing/2014/main" id="{01DFC522-4C2F-4AFE-8C6C-E2AEDB77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Integración con OpenRouter</a:t>
            </a:r>
          </a:p>
        </p:txBody>
      </p:sp>
      <p:sp>
        <p:nvSpPr>
          <p:cNvPr id="3" name="texto-216ah6-2">
            <a:extLst xmlns:a="http://schemas.openxmlformats.org/drawingml/2006/main">
              <a:ext uri="{FF2B5EF4-FFF2-40B4-BE49-F238E27FC236}">
                <a16:creationId xmlns:a16="http://schemas.microsoft.com/office/drawing/2014/main" id="{D55DB083-42A2-47C8-B58B-F3E8DB3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216ah6-3">
            <a:extLst xmlns:a="http://schemas.openxmlformats.org/drawingml/2006/main">
              <a:ext uri="{FF2B5EF4-FFF2-40B4-BE49-F238E27FC236}">
                <a16:creationId xmlns:a16="http://schemas.microsoft.com/office/drawing/2014/main" id="{8B845ECC-031F-47CF-BF8A-AD319EBB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5" name="texto-216ah6-4">
            <a:extLst xmlns:a="http://schemas.openxmlformats.org/drawingml/2006/main">
              <a:ext uri="{FF2B5EF4-FFF2-40B4-BE49-F238E27FC236}">
                <a16:creationId xmlns:a16="http://schemas.microsoft.com/office/drawing/2014/main" id="{E37F80A4-83C3-49BA-ABEE-1B0C650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Prompt del sistema</a:t>
            </a:r>
          </a:p>
        </p:txBody>
      </p:sp>
      <p:sp>
        <p:nvSpPr>
          <p:cNvPr id="6" name="texto-216ah6-5">
            <a:extLst xmlns:a="http://schemas.openxmlformats.org/drawingml/2006/main">
              <a:ext uri="{FF2B5EF4-FFF2-40B4-BE49-F238E27FC236}">
                <a16:creationId xmlns:a16="http://schemas.microsoft.com/office/drawing/2014/main" id="{2CC62319-8AF8-44CD-8349-FC7289D9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Define objeto y libros nuevos, reglas de yunque y salida JSON.</a:t>
            </a:r>
          </a:p>
        </p:txBody>
      </p:sp>
      <p:sp>
        <p:nvSpPr>
          <p:cNvPr id="7" name="texto-216ah6-6">
            <a:extLst xmlns:a="http://schemas.openxmlformats.org/drawingml/2006/main">
              <a:ext uri="{FF2B5EF4-FFF2-40B4-BE49-F238E27FC236}">
                <a16:creationId xmlns:a16="http://schemas.microsoft.com/office/drawing/2014/main" id="{4990C5C2-ABD0-4705-9121-0CE9A11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Referencias internas</a:t>
            </a:r>
          </a:p>
        </p:txBody>
      </p:sp>
      <p:sp>
        <p:nvSpPr>
          <p:cNvPr id="8" name="texto-216ah6-7">
            <a:extLst xmlns:a="http://schemas.openxmlformats.org/drawingml/2006/main">
              <a:ext uri="{FF2B5EF4-FFF2-40B4-BE49-F238E27FC236}">
                <a16:creationId xmlns:a16="http://schemas.microsoft.com/office/drawing/2014/main" id="{5461FCE7-2962-49F6-8061-BA377D6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objeto, libro_1 y paso_1 identifican recursos consumibles.</a:t>
            </a:r>
          </a:p>
        </p:txBody>
      </p:sp>
      <p:sp>
        <p:nvSpPr>
          <p:cNvPr id="9" name="texto-216ah6-8">
            <a:extLst xmlns:a="http://schemas.openxmlformats.org/drawingml/2006/main">
              <a:ext uri="{FF2B5EF4-FFF2-40B4-BE49-F238E27FC236}">
                <a16:creationId xmlns:a16="http://schemas.microsoft.com/office/drawing/2014/main" id="{72C5F377-0293-446F-91B7-3299770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Petición única</a:t>
            </a:r>
          </a:p>
        </p:txBody>
      </p:sp>
      <p:sp>
        <p:nvSpPr>
          <p:cNvPr id="10" name="texto-216ah6-9">
            <a:extLst xmlns:a="http://schemas.openxmlformats.org/drawingml/2006/main">
              <a:ext uri="{FF2B5EF4-FFF2-40B4-BE49-F238E27FC236}">
                <a16:creationId xmlns:a16="http://schemas.microsoft.com/office/drawing/2014/main" id="{52271794-6467-4FF9-A2C4-1F1F15D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HTTPX envía una llamada sin streaming, reintentos ni fallback.</a:t>
            </a:r>
          </a:p>
        </p:txBody>
      </p:sp>
      <p:sp>
        <p:nvSpPr>
          <p:cNvPr id="11" name="texto-216ah6-10">
            <a:extLst xmlns:a="http://schemas.openxmlformats.org/drawingml/2006/main">
              <a:ext uri="{FF2B5EF4-FFF2-40B4-BE49-F238E27FC236}">
                <a16:creationId xmlns:a16="http://schemas.microsoft.com/office/drawing/2014/main" id="{5FB229F2-3562-4253-8B61-2C23B68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Límite del enfoque</a:t>
            </a:r>
          </a:p>
        </p:txBody>
      </p:sp>
      <p:sp>
        <p:nvSpPr>
          <p:cNvPr id="12" name="texto-216ah6-11">
            <a:extLst xmlns:a="http://schemas.openxmlformats.org/drawingml/2006/main">
              <a:ext uri="{FF2B5EF4-FFF2-40B4-BE49-F238E27FC236}">
                <a16:creationId xmlns:a16="http://schemas.microsoft.com/office/drawing/2014/main" id="{D907B816-F102-434F-BB5C-81921AB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La IA propone el coste. Un plan estructuralmente válido puede calcularlo mal.</a:t>
            </a:r>
          </a:p>
        </p:txBody>
      </p:sp>
    </p:spTree>
    <p:extLst>
      <p:ext uri="{BB962C8B-B14F-4D97-AF65-F5344CB8AC3E}">
        <p14:creationId xmlns:p14="http://schemas.microsoft.com/office/powerpoint/2010/main" val="1009826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o-ghnags-0">
            <a:extLst xmlns:a="http://schemas.openxmlformats.org/drawingml/2006/main">
              <a:ext uri="{FF2B5EF4-FFF2-40B4-BE49-F238E27FC236}">
                <a16:creationId xmlns:a16="http://schemas.microsoft.com/office/drawing/2014/main" id="{C8287BDC-5D34-44AE-A55E-99FA60C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CALIDAD VERIFICABLE</a:t>
            </a:r>
          </a:p>
        </p:txBody>
      </p:sp>
      <p:sp>
        <p:nvSpPr>
          <p:cNvPr id="2" name="texto-ghnags-1">
            <a:extLst xmlns:a="http://schemas.openxmlformats.org/drawingml/2006/main">
              <a:ext uri="{FF2B5EF4-FFF2-40B4-BE49-F238E27FC236}">
                <a16:creationId xmlns:a16="http://schemas.microsoft.com/office/drawing/2014/main" id="{2D2D7228-B209-4846-9CCF-C9482997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Pruebas del backend</a:t>
            </a:r>
          </a:p>
        </p:txBody>
      </p:sp>
      <p:sp>
        <p:nvSpPr>
          <p:cNvPr id="3" name="texto-ghnags-2">
            <a:extLst xmlns:a="http://schemas.openxmlformats.org/drawingml/2006/main">
              <a:ext uri="{FF2B5EF4-FFF2-40B4-BE49-F238E27FC236}">
                <a16:creationId xmlns:a16="http://schemas.microsoft.com/office/drawing/2014/main" id="{899F80AB-0094-4EE5-8E07-5B3BC42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ghnags-3">
            <a:extLst xmlns:a="http://schemas.openxmlformats.org/drawingml/2006/main">
              <a:ext uri="{FF2B5EF4-FFF2-40B4-BE49-F238E27FC236}">
                <a16:creationId xmlns:a16="http://schemas.microsoft.com/office/drawing/2014/main" id="{3773B9D3-4C37-41D8-883C-0AC4DD7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5" name="texto-ghnags-4">
            <a:extLst xmlns:a="http://schemas.openxmlformats.org/drawingml/2006/main">
              <a:ext uri="{FF2B5EF4-FFF2-40B4-BE49-F238E27FC236}">
                <a16:creationId xmlns:a16="http://schemas.microsoft.com/office/drawing/2014/main" id="{6D426881-52D3-406B-9A65-92C1008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095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7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87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87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6" name="texto-ghnags-5">
            <a:extLst xmlns:a="http://schemas.openxmlformats.org/drawingml/2006/main">
              <a:ext uri="{FF2B5EF4-FFF2-40B4-BE49-F238E27FC236}">
                <a16:creationId xmlns:a16="http://schemas.microsoft.com/office/drawing/2014/main" id="{A5633C67-B777-40EB-88EF-203FF6E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pruebas superadas</a:t>
            </a:r>
          </a:p>
        </p:txBody>
      </p:sp>
      <p:sp>
        <p:nvSpPr>
          <p:cNvPr id="7" name="texto-ghnags-6">
            <a:extLst xmlns:a="http://schemas.openxmlformats.org/drawingml/2006/main">
              <a:ext uri="{FF2B5EF4-FFF2-40B4-BE49-F238E27FC236}">
                <a16:creationId xmlns:a16="http://schemas.microsoft.com/office/drawing/2014/main" id="{9F24BED4-E53E-4405-8585-E9DEF49E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Ejecución local del 13/10/2026</a:t>
            </a:r>
          </a:p>
          <a:p xmlns:a="http://schemas.openxmlformats.org/drawingml/2006/main">
            <a: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API externa simulada</a:t>
            </a:r>
          </a:p>
          <a:p xmlns:a="http://schemas.openxmlformats.org/drawingml/2006/main">
            <a:pPr>
              <a:defRPr sz="202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Sin consumo de tokens</a:t>
            </a:r>
          </a:p>
        </p:txBody>
      </p:sp>
      <p:sp>
        <p:nvSpPr>
          <p:cNvPr id="8" name="texto-ghnags-7">
            <a:extLst xmlns:a="http://schemas.openxmlformats.org/drawingml/2006/main">
              <a:ext uri="{FF2B5EF4-FFF2-40B4-BE49-F238E27FC236}">
                <a16:creationId xmlns:a16="http://schemas.microsoft.com/office/drawing/2014/main" id="{FA2EE7B5-8048-4F23-BCA2-C10AE3A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Contrato y validación</a:t>
            </a:r>
          </a:p>
        </p:txBody>
      </p:sp>
      <p:sp>
        <p:nvSpPr>
          <p:cNvPr id="9" name="texto-ghnags-8">
            <a:extLst xmlns:a="http://schemas.openxmlformats.org/drawingml/2006/main">
              <a:ext uri="{FF2B5EF4-FFF2-40B4-BE49-F238E27FC236}">
                <a16:creationId xmlns:a16="http://schemas.microsoft.com/office/drawing/2014/main" id="{7CC1AB44-63F4-4C9D-A53B-95FB6FB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Entradas válidas, niveles y combinaciones rechazadas.</a:t>
            </a:r>
          </a:p>
        </p:txBody>
      </p:sp>
      <p:sp>
        <p:nvSpPr>
          <p:cNvPr id="10" name="texto-ghnags-9">
            <a:extLst xmlns:a="http://schemas.openxmlformats.org/drawingml/2006/main">
              <a:ext uri="{FF2B5EF4-FFF2-40B4-BE49-F238E27FC236}">
                <a16:creationId xmlns:a16="http://schemas.microsoft.com/office/drawing/2014/main" id="{CC3611F1-03DB-45A1-8A76-CFA412A7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Planes y transporte</a:t>
            </a:r>
          </a:p>
        </p:txBody>
      </p:sp>
      <p:sp>
        <p:nvSpPr>
          <p:cNvPr id="11" name="texto-ghnags-10">
            <a:extLst xmlns:a="http://schemas.openxmlformats.org/drawingml/2006/main">
              <a:ext uri="{FF2B5EF4-FFF2-40B4-BE49-F238E27FC236}">
                <a16:creationId xmlns:a16="http://schemas.microsoft.com/office/drawing/2014/main" id="{BA50DECD-A22F-4A24-9AC8-1651D7F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957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Referencias, sumas, 429, timeout y salida truncada.</a:t>
            </a:r>
          </a:p>
        </p:txBody>
      </p:sp>
      <p:sp>
        <p:nvSpPr>
          <p:cNvPr id="12" name="texto-ghnags-11">
            <a:extLst xmlns:a="http://schemas.openxmlformats.org/drawingml/2006/main">
              <a:ext uri="{FF2B5EF4-FFF2-40B4-BE49-F238E27FC236}">
                <a16:creationId xmlns:a16="http://schemas.microsoft.com/office/drawing/2014/main" id="{02B8188B-5721-4B51-83E0-7C8ABE33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Aislamiento</a:t>
            </a:r>
          </a:p>
        </p:txBody>
      </p:sp>
      <p:sp>
        <p:nvSpPr>
          <p:cNvPr id="13" name="texto-ghnags-12">
            <a:extLst xmlns:a="http://schemas.openxmlformats.org/drawingml/2006/main">
              <a:ext uri="{FF2B5EF4-FFF2-40B4-BE49-F238E27FC236}">
                <a16:creationId xmlns:a16="http://schemas.microsoft.com/office/drawing/2014/main" id="{378E777D-48CE-46E9-85B1-1F41ADE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339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Conteo de llamadas, CORS y ausencia de conexión en mock.</a:t>
            </a:r>
          </a:p>
        </p:txBody>
      </p:sp>
    </p:spTree>
    <p:extLst>
      <p:ext uri="{BB962C8B-B14F-4D97-AF65-F5344CB8AC3E}">
        <p14:creationId xmlns:p14="http://schemas.microsoft.com/office/powerpoint/2010/main" val="15545057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o-w8zovi-0">
            <a:extLst xmlns:a="http://schemas.openxmlformats.org/drawingml/2006/main">
              <a:ext uri="{FF2B5EF4-FFF2-40B4-BE49-F238E27FC236}">
                <a16:creationId xmlns:a16="http://schemas.microsoft.com/office/drawing/2014/main" id="{DA9B59AC-5BB5-4D15-B2C3-1C7567A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CONFIGURACIÓN</a:t>
            </a:r>
          </a:p>
        </p:txBody>
      </p:sp>
      <p:sp>
        <p:nvSpPr>
          <p:cNvPr id="2" name="texto-w8zovi-1">
            <a:extLst xmlns:a="http://schemas.openxmlformats.org/drawingml/2006/main">
              <a:ext uri="{FF2B5EF4-FFF2-40B4-BE49-F238E27FC236}">
                <a16:creationId xmlns:a16="http://schemas.microsoft.com/office/drawing/2014/main" id="{9C52602C-922A-4443-808A-E63C476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Variables de entorno</a:t>
            </a:r>
          </a:p>
        </p:txBody>
      </p:sp>
      <p:sp>
        <p:nvSpPr>
          <p:cNvPr id="3" name="texto-w8zovi-2">
            <a:extLst xmlns:a="http://schemas.openxmlformats.org/drawingml/2006/main">
              <a:ext uri="{FF2B5EF4-FFF2-40B4-BE49-F238E27FC236}">
                <a16:creationId xmlns:a16="http://schemas.microsoft.com/office/drawing/2014/main" id="{7C81E5FC-040F-4E99-836D-346F8C4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w8zovi-3">
            <a:extLst xmlns:a="http://schemas.openxmlformats.org/drawingml/2006/main">
              <a:ext uri="{FF2B5EF4-FFF2-40B4-BE49-F238E27FC236}">
                <a16:creationId xmlns:a16="http://schemas.microsoft.com/office/drawing/2014/main" id="{3500F259-0AB5-41E1-B123-D3234AD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097AC-7276-437B-8F0D-1F7B4851D0C9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6638925"/>
              </a:tblGrid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Variable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T w="19050">
                      <a:solidFill>
                        <a:srgbClr val="F5F0E7"/>
                      </a:solidFill>
                      <a:prstDash val="solid"/>
                    </a:lnT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634294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OPENROUTER_API_KEY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Credencial privada, solo en backend.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OPENROUTER_MODEL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Identificador del modelo seleccionado.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AI_MODE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openrouter para IA real o mock para simulación.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AI_TIMEOUT_SECONDS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Plazo mayor que 0 y menor o igual a 60 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ALLOWED_ORIGINS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Orígenes de navegador autorizados por CORS.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VITE_API_BASE_URL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5F0E7"/>
                      </a:solidFill>
                      <a:prstDash val="solid"/>
                    </a:lnL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92335"/>
                          </a:solidFill>
                          <a:latin typeface="Calibri"/>
                          <a:ea typeface="Calibri"/>
                          <a:cs typeface="Calibri"/>
                        </a:rPr>
                        <a:t>URL pública del backend para el frontend.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5F0E7"/>
                      </a:solidFill>
                      <a:prstDash val="solid"/>
                    </a:lnR>
                    <a:lnB w="19050">
                      <a:solidFill>
                        <a:srgbClr val="F5F0E7"/>
                      </a:solidFill>
                      <a:prstDash val="solid"/>
                    </a:lnB>
                    <a:solidFill>
                      <a:srgbClr val="EEE7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8536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qcid6d-0">
            <a:extLst xmlns:a="http://schemas.openxmlformats.org/drawingml/2006/main">
              <a:ext uri="{FF2B5EF4-FFF2-40B4-BE49-F238E27FC236}">
                <a16:creationId xmlns:a16="http://schemas.microsoft.com/office/drawing/2014/main" id="{8F8077B1-ACD8-4CB1-BF05-0160BF5B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ENTORNO LOCAL</a:t>
            </a:r>
          </a:p>
        </p:txBody>
      </p:sp>
      <p:sp>
        <p:nvSpPr>
          <p:cNvPr id="2" name="texto-qcid6d-1">
            <a:extLst xmlns:a="http://schemas.openxmlformats.org/drawingml/2006/main">
              <a:ext uri="{FF2B5EF4-FFF2-40B4-BE49-F238E27FC236}">
                <a16:creationId xmlns:a16="http://schemas.microsoft.com/office/drawing/2014/main" id="{01CF9F91-F6F6-43ED-AC22-9BDD544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Ejecución en desarrollo</a:t>
            </a:r>
          </a:p>
        </p:txBody>
      </p:sp>
      <p:sp>
        <p:nvSpPr>
          <p:cNvPr id="3" name="texto-qcid6d-2">
            <a:extLst xmlns:a="http://schemas.openxmlformats.org/drawingml/2006/main">
              <a:ext uri="{FF2B5EF4-FFF2-40B4-BE49-F238E27FC236}">
                <a16:creationId xmlns:a16="http://schemas.microsoft.com/office/drawing/2014/main" id="{944DFE52-85AC-4482-8AE7-FF86494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qcid6d-3">
            <a:extLst xmlns:a="http://schemas.openxmlformats.org/drawingml/2006/main">
              <a:ext uri="{FF2B5EF4-FFF2-40B4-BE49-F238E27FC236}">
                <a16:creationId xmlns:a16="http://schemas.microsoft.com/office/drawing/2014/main" id="{9BD31CAE-120E-45F4-B845-DB57CA5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5" name="texto-qcid6d-4">
            <a:extLst xmlns:a="http://schemas.openxmlformats.org/drawingml/2006/main">
              <a:ext uri="{FF2B5EF4-FFF2-40B4-BE49-F238E27FC236}">
                <a16:creationId xmlns:a16="http://schemas.microsoft.com/office/drawing/2014/main" id="{8049ADD5-F6DC-4CD1-8DB5-BD88161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6" name="texto-qcid6d-5">
            <a:extLst xmlns:a="http://schemas.openxmlformats.org/drawingml/2006/main">
              <a:ext uri="{FF2B5EF4-FFF2-40B4-BE49-F238E27FC236}">
                <a16:creationId xmlns:a16="http://schemas.microsoft.com/office/drawing/2014/main" id="{62889039-BF37-4328-BF3F-A42D0EB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Desde app1/backend</a:t>
            </a:r>
          </a:p>
        </p:txBody>
      </p:sp>
      <p:sp>
        <p:nvSpPr>
          <p:cNvPr id="7" name="texto-qcid6d-6">
            <a:extLst xmlns:a="http://schemas.openxmlformats.org/drawingml/2006/main">
              <a:ext uri="{FF2B5EF4-FFF2-40B4-BE49-F238E27FC236}">
                <a16:creationId xmlns:a16="http://schemas.microsoft.com/office/drawing/2014/main" id="{77518E18-BC3A-4B32-8CAD-03C0F71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.\.venv\Scripts\python.exe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-m uvicorn main:app --reload</a:t>
            </a:r>
          </a:p>
        </p:txBody>
      </p:sp>
      <p:sp>
        <p:nvSpPr>
          <p:cNvPr id="8" name="texto-qcid6d-7">
            <a:extLst xmlns:a="http://schemas.openxmlformats.org/drawingml/2006/main">
              <a:ext uri="{FF2B5EF4-FFF2-40B4-BE49-F238E27FC236}">
                <a16:creationId xmlns:a16="http://schemas.microsoft.com/office/drawing/2014/main" id="{19900914-0FF8-4DD1-A46D-CD76F4C7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Ejecutar ambas líneas como un único comando.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Documentación en localhost:8000/docs</a:t>
            </a:r>
          </a:p>
        </p:txBody>
      </p:sp>
      <p:sp>
        <p:nvSpPr>
          <p:cNvPr id="9" name="texto-qcid6d-8">
            <a:extLst xmlns:a="http://schemas.openxmlformats.org/drawingml/2006/main">
              <a:ext uri="{FF2B5EF4-FFF2-40B4-BE49-F238E27FC236}">
                <a16:creationId xmlns:a16="http://schemas.microsoft.com/office/drawing/2014/main" id="{EAFAB510-922E-4155-A9DB-86E4B1C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10" name="texto-qcid6d-9">
            <a:extLst xmlns:a="http://schemas.openxmlformats.org/drawingml/2006/main">
              <a:ext uri="{FF2B5EF4-FFF2-40B4-BE49-F238E27FC236}">
                <a16:creationId xmlns:a16="http://schemas.microsoft.com/office/drawing/2014/main" id="{6C3B5862-B4BB-43DF-96FD-5F408DF6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Desde app1/frontend</a:t>
            </a:r>
          </a:p>
        </p:txBody>
      </p:sp>
      <p:sp>
        <p:nvSpPr>
          <p:cNvPr id="11" name="texto-qcid6d-10">
            <a:extLst xmlns:a="http://schemas.openxmlformats.org/drawingml/2006/main">
              <a:ext uri="{FF2B5EF4-FFF2-40B4-BE49-F238E27FC236}">
                <a16:creationId xmlns:a16="http://schemas.microsoft.com/office/drawing/2014/main" id="{11F98CA2-81D3-4DA2-B320-55502EF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92335"/>
                </a:solidFill>
                <a:latin typeface="Consolas"/>
                <a:ea typeface="Consolas"/>
                <a:cs typeface="Consolas"/>
              </a:rPr>
              <a:t>npm run dev</a:t>
            </a:r>
          </a:p>
        </p:txBody>
      </p:sp>
      <p:sp>
        <p:nvSpPr>
          <p:cNvPr id="12" name="texto-qcid6d-11">
            <a:extLst xmlns:a="http://schemas.openxmlformats.org/drawingml/2006/main">
              <a:ext uri="{FF2B5EF4-FFF2-40B4-BE49-F238E27FC236}">
                <a16:creationId xmlns:a16="http://schemas.microsoft.com/office/drawing/2014/main" id="{506B36DA-0947-476B-9380-5193DDE0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Interfaz local en localhost:5173</a:t>
            </a:r>
          </a:p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Compilación: npm run build</a:t>
            </a:r>
          </a:p>
        </p:txBody>
      </p:sp>
    </p:spTree>
    <p:extLst>
      <p:ext uri="{BB962C8B-B14F-4D97-AF65-F5344CB8AC3E}">
        <p14:creationId xmlns:p14="http://schemas.microsoft.com/office/powerpoint/2010/main" val="16359846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hrtjue-0">
            <a:extLst xmlns:a="http://schemas.openxmlformats.org/drawingml/2006/main">
              <a:ext uri="{FF2B5EF4-FFF2-40B4-BE49-F238E27FC236}">
                <a16:creationId xmlns:a16="http://schemas.microsoft.com/office/drawing/2014/main" id="{2E41DE28-C249-4E70-A0BE-7073D0D7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PUBLICACIÓN</a:t>
            </a:r>
          </a:p>
        </p:txBody>
      </p:sp>
      <p:sp>
        <p:nvSpPr>
          <p:cNvPr id="2" name="texto-hrtjue-1">
            <a:extLst xmlns:a="http://schemas.openxmlformats.org/drawingml/2006/main">
              <a:ext uri="{FF2B5EF4-FFF2-40B4-BE49-F238E27FC236}">
                <a16:creationId xmlns:a16="http://schemas.microsoft.com/office/drawing/2014/main" id="{F877411D-E046-4912-BC03-01889BA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Despliegue en Vercel</a:t>
            </a:r>
          </a:p>
        </p:txBody>
      </p:sp>
      <p:sp>
        <p:nvSpPr>
          <p:cNvPr id="3" name="texto-hrtjue-2">
            <a:extLst xmlns:a="http://schemas.openxmlformats.org/drawingml/2006/main">
              <a:ext uri="{FF2B5EF4-FFF2-40B4-BE49-F238E27FC236}">
                <a16:creationId xmlns:a16="http://schemas.microsoft.com/office/drawing/2014/main" id="{E83DDF0F-F5FF-4FAB-8E1D-C96B59C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hrtjue-3">
            <a:extLst xmlns:a="http://schemas.openxmlformats.org/drawingml/2006/main">
              <a:ext uri="{FF2B5EF4-FFF2-40B4-BE49-F238E27FC236}">
                <a16:creationId xmlns:a16="http://schemas.microsoft.com/office/drawing/2014/main" id="{A727C343-5545-4C71-9A2D-BBE0E9F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5" name="texto-hrtjue-4">
            <a:extLst xmlns:a="http://schemas.openxmlformats.org/drawingml/2006/main">
              <a:ext uri="{FF2B5EF4-FFF2-40B4-BE49-F238E27FC236}">
                <a16:creationId xmlns:a16="http://schemas.microsoft.com/office/drawing/2014/main" id="{25214807-5279-4E51-AC1E-E167243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6" name="texto-hrtjue-5">
            <a:extLst xmlns:a="http://schemas.openxmlformats.org/drawingml/2006/main">
              <a:ext uri="{FF2B5EF4-FFF2-40B4-BE49-F238E27FC236}">
                <a16:creationId xmlns:a16="http://schemas.microsoft.com/office/drawing/2014/main" id="{690C0236-0E36-4A69-9418-DFDAD26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Proyecto Vercel para la SPA compilada con Vite.</a:t>
            </a:r>
          </a:p>
        </p:txBody>
      </p:sp>
      <p:sp>
        <p:nvSpPr>
          <p:cNvPr id="7" name="texto-hrtjue-6">
            <a:extLst xmlns:a="http://schemas.openxmlformats.org/drawingml/2006/main">
              <a:ext uri="{FF2B5EF4-FFF2-40B4-BE49-F238E27FC236}">
                <a16:creationId xmlns:a16="http://schemas.microsoft.com/office/drawing/2014/main" id="{91748449-BCFA-4C90-B810-0474105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met-frontend-zeta.vercel.app</a:t>
            </a:r>
          </a:p>
        </p:txBody>
      </p:sp>
      <p:sp>
        <p:nvSpPr>
          <p:cNvPr id="8" name="texto-hrtjue-7">
            <a:extLst xmlns:a="http://schemas.openxmlformats.org/drawingml/2006/main">
              <a:ext uri="{FF2B5EF4-FFF2-40B4-BE49-F238E27FC236}">
                <a16:creationId xmlns:a16="http://schemas.microsoft.com/office/drawing/2014/main" id="{54ACDDDB-736D-449F-BB6B-F03A4CD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9" name="texto-hrtjue-8">
            <a:extLst xmlns:a="http://schemas.openxmlformats.org/drawingml/2006/main">
              <a:ext uri="{FF2B5EF4-FFF2-40B4-BE49-F238E27FC236}">
                <a16:creationId xmlns:a16="http://schemas.microsoft.com/office/drawing/2014/main" id="{89318D73-0457-43CF-9869-E1A4DE0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Proyecto Vercel para FastAPI. vercel.json declara 60 s de duración máxima.</a:t>
            </a:r>
          </a:p>
        </p:txBody>
      </p:sp>
      <p:sp>
        <p:nvSpPr>
          <p:cNvPr id="10" name="texto-hrtjue-9">
            <a:extLst xmlns:a="http://schemas.openxmlformats.org/drawingml/2006/main">
              <a:ext uri="{FF2B5EF4-FFF2-40B4-BE49-F238E27FC236}">
                <a16:creationId xmlns:a16="http://schemas.microsoft.com/office/drawing/2014/main" id="{AE6054EF-B1DB-4CE6-8DC6-07C2A7CF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minecraft-enchanting-tool.vercel.app</a:t>
            </a:r>
          </a:p>
        </p:txBody>
      </p:sp>
      <p:sp>
        <p:nvSpPr>
          <p:cNvPr id="11" name="texto-hrtjue-10">
            <a:extLst xmlns:a="http://schemas.openxmlformats.org/drawingml/2006/main">
              <a:ext uri="{FF2B5EF4-FFF2-40B4-BE49-F238E27FC236}">
                <a16:creationId xmlns:a16="http://schemas.microsoft.com/office/drawing/2014/main" id="{35E88251-7540-41FB-B649-7F317A0D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Dos orígenes: VITE_API_BASE_URL conecta el cliente y ALLOWED_ORIGINS autoriza su dominio.</a:t>
            </a:r>
          </a:p>
        </p:txBody>
      </p:sp>
    </p:spTree>
    <p:extLst>
      <p:ext uri="{BB962C8B-B14F-4D97-AF65-F5344CB8AC3E}">
        <p14:creationId xmlns:p14="http://schemas.microsoft.com/office/powerpoint/2010/main" val="473399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ntn5ss-0">
            <a:extLst xmlns:a="http://schemas.openxmlformats.org/drawingml/2006/main">
              <a:ext uri="{FF2B5EF4-FFF2-40B4-BE49-F238E27FC236}">
                <a16:creationId xmlns:a16="http://schemas.microsoft.com/office/drawing/2014/main" id="{D32B6681-A15E-42AD-9AD0-3D7F31D8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ESTADO DE LA ENTREGA</a:t>
            </a:r>
          </a:p>
        </p:txBody>
      </p:sp>
      <p:sp>
        <p:nvSpPr>
          <p:cNvPr id="2" name="texto-ntn5ss-1">
            <a:extLst xmlns:a="http://schemas.openxmlformats.org/drawingml/2006/main">
              <a:ext uri="{FF2B5EF4-FFF2-40B4-BE49-F238E27FC236}">
                <a16:creationId xmlns:a16="http://schemas.microsoft.com/office/drawing/2014/main" id="{AAF012A0-C75D-44D3-8770-4FEF64A1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Verificación y documentación</a:t>
            </a:r>
          </a:p>
        </p:txBody>
      </p:sp>
      <p:sp>
        <p:nvSpPr>
          <p:cNvPr id="3" name="texto-ntn5ss-2">
            <a:extLst xmlns:a="http://schemas.openxmlformats.org/drawingml/2006/main">
              <a:ext uri="{FF2B5EF4-FFF2-40B4-BE49-F238E27FC236}">
                <a16:creationId xmlns:a16="http://schemas.microsoft.com/office/drawing/2014/main" id="{BB2EF805-2CE3-46BA-BF05-2F815AA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ntn5ss-3">
            <a:extLst xmlns:a="http://schemas.openxmlformats.org/drawingml/2006/main">
              <a:ext uri="{FF2B5EF4-FFF2-40B4-BE49-F238E27FC236}">
                <a16:creationId xmlns:a16="http://schemas.microsoft.com/office/drawing/2014/main" id="{C9C62413-4645-4034-9DD1-DF12DAFF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C637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C6373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5" name="texto-ntn5ss-4">
            <a:extLst xmlns:a="http://schemas.openxmlformats.org/drawingml/2006/main">
              <a:ext uri="{FF2B5EF4-FFF2-40B4-BE49-F238E27FC236}">
                <a16:creationId xmlns:a16="http://schemas.microsoft.com/office/drawing/2014/main" id="{F494FC2B-FA1D-4D00-9B54-F048A07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Evidencia disponible</a:t>
            </a:r>
          </a:p>
        </p:txBody>
      </p:sp>
      <p:sp>
        <p:nvSpPr>
          <p:cNvPr id="6" name="texto-ntn5ss-5">
            <a:extLst xmlns:a="http://schemas.openxmlformats.org/drawingml/2006/main">
              <a:ext uri="{FF2B5EF4-FFF2-40B4-BE49-F238E27FC236}">
                <a16:creationId xmlns:a16="http://schemas.microsoft.com/office/drawing/2014/main" id="{1B118A82-636F-4469-8294-A387CD4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Interfaz pública accesible, contrato, diagrama y 46 tests del backend.</a:t>
            </a:r>
          </a:p>
        </p:txBody>
      </p:sp>
      <p:sp>
        <p:nvSpPr>
          <p:cNvPr id="7" name="texto-ntn5ss-6">
            <a:extLst xmlns:a="http://schemas.openxmlformats.org/drawingml/2006/main">
              <a:ext uri="{FF2B5EF4-FFF2-40B4-BE49-F238E27FC236}">
                <a16:creationId xmlns:a16="http://schemas.microsoft.com/office/drawing/2014/main" id="{FA9ECC43-58A2-48A0-B050-06CE122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Integración por comprobar</a:t>
            </a:r>
          </a:p>
        </p:txBody>
      </p:sp>
      <p:sp>
        <p:nvSpPr>
          <p:cNvPr id="8" name="texto-ntn5ss-7">
            <a:extLst xmlns:a="http://schemas.openxmlformats.org/drawingml/2006/main">
              <a:ext uri="{FF2B5EF4-FFF2-40B4-BE49-F238E27FC236}">
                <a16:creationId xmlns:a16="http://schemas.microsoft.com/office/drawing/2014/main" id="{B14D58D8-E38E-437B-9B8E-9DF2679C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Alinear la copia local con la publicada y registrar un resultado real de IA.</a:t>
            </a:r>
          </a:p>
        </p:txBody>
      </p:sp>
      <p:sp>
        <p:nvSpPr>
          <p:cNvPr id="9" name="texto-ntn5ss-8">
            <a:extLst xmlns:a="http://schemas.openxmlformats.org/drawingml/2006/main">
              <a:ext uri="{FF2B5EF4-FFF2-40B4-BE49-F238E27FC236}">
                <a16:creationId xmlns:a16="http://schemas.microsoft.com/office/drawing/2014/main" id="{A8DEBE40-66CF-47A9-8677-CB541BC0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Documentación por unificar</a:t>
            </a:r>
          </a:p>
        </p:txBody>
      </p:sp>
      <p:sp>
        <p:nvSpPr>
          <p:cNvPr id="10" name="texto-ntn5ss-9">
            <a:extLst xmlns:a="http://schemas.openxmlformats.org/drawingml/2006/main">
              <a:ext uri="{FF2B5EF4-FFF2-40B4-BE49-F238E27FC236}">
                <a16:creationId xmlns:a16="http://schemas.microsoft.com/office/drawing/2014/main" id="{27F69559-7CC8-46EA-892F-A859E32F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Resolver el conflicto del README y recuperar o completar ERS, pruebas y despliegue.</a:t>
            </a:r>
          </a:p>
        </p:txBody>
      </p:sp>
      <p:sp>
        <p:nvSpPr>
          <p:cNvPr id="11" name="texto-ntn5ss-10">
            <a:extLst xmlns:a="http://schemas.openxmlformats.org/drawingml/2006/main">
              <a:ext uri="{FF2B5EF4-FFF2-40B4-BE49-F238E27FC236}">
                <a16:creationId xmlns:a16="http://schemas.microsoft.com/office/drawing/2014/main" id="{7C7F8288-5DB9-434F-9244-4A057FF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3429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634294"/>
                </a:solidFill>
                <a:latin typeface="Calibri"/>
                <a:ea typeface="Calibri"/>
                <a:cs typeface="Calibri"/>
              </a:rPr>
              <a:t>Revisión de seguridad</a:t>
            </a:r>
          </a:p>
        </p:txBody>
      </p:sp>
      <p:sp>
        <p:nvSpPr>
          <p:cNvPr id="12" name="texto-ntn5ss-11">
            <a:extLst xmlns:a="http://schemas.openxmlformats.org/drawingml/2006/main">
              <a:ext uri="{FF2B5EF4-FFF2-40B4-BE49-F238E27FC236}">
                <a16:creationId xmlns:a16="http://schemas.microsoft.com/office/drawing/2014/main" id="{3A56600A-940F-44E9-A369-2647DF94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33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92335"/>
                </a:solidFill>
                <a:latin typeface="Calibri"/>
                <a:ea typeface="Calibri"/>
                <a:cs typeface="Calibri"/>
              </a:rPr>
              <a:t>Retirar contenido del proveedor de los logs antes de cerrar la entrega.</a:t>
            </a:r>
          </a:p>
        </p:txBody>
      </p:sp>
    </p:spTree>
    <p:extLst>
      <p:ext uri="{BB962C8B-B14F-4D97-AF65-F5344CB8AC3E}">
        <p14:creationId xmlns:p14="http://schemas.microsoft.com/office/powerpoint/2010/main" val="19491236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9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-59n84j-0">
            <a:extLst xmlns:a="http://schemas.openxmlformats.org/drawingml/2006/main">
              <a:ext uri="{FF2B5EF4-FFF2-40B4-BE49-F238E27FC236}">
                <a16:creationId xmlns:a16="http://schemas.microsoft.com/office/drawing/2014/main" id="{8A331437-1C29-4D9C-B121-DBECE65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2" name="texto-59n84j-1">
            <a:extLst xmlns:a="http://schemas.openxmlformats.org/drawingml/2006/main">
              <a:ext uri="{FF2B5EF4-FFF2-40B4-BE49-F238E27FC236}">
                <a16:creationId xmlns:a16="http://schemas.microsoft.com/office/drawing/2014/main" id="{49FCE1F0-50ED-4B8E-9692-92178AE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Conclusiones</a:t>
            </a:r>
          </a:p>
        </p:txBody>
      </p:sp>
      <p:sp>
        <p:nvSpPr>
          <p:cNvPr id="3" name="texto-59n84j-2">
            <a:extLst xmlns:a="http://schemas.openxmlformats.org/drawingml/2006/main">
              <a:ext uri="{FF2B5EF4-FFF2-40B4-BE49-F238E27FC236}">
                <a16:creationId xmlns:a16="http://schemas.microsoft.com/office/drawing/2014/main" id="{1D91A981-B781-4BF2-94A0-33E30A9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MeT / App 1</a:t>
            </a:r>
          </a:p>
        </p:txBody>
      </p:sp>
      <p:sp>
        <p:nvSpPr>
          <p:cNvPr id="4" name="texto-59n84j-3">
            <a:extLst xmlns:a="http://schemas.openxmlformats.org/drawingml/2006/main">
              <a:ext uri="{FF2B5EF4-FFF2-40B4-BE49-F238E27FC236}">
                <a16:creationId xmlns:a16="http://schemas.microsoft.com/office/drawing/2014/main" id="{B5B6B50A-FBD0-4AFF-AA30-00EF8B8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DB6E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DB6EA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5" name="texto-59n84j-4">
            <a:extLst xmlns:a="http://schemas.openxmlformats.org/drawingml/2006/main">
              <a:ext uri="{FF2B5EF4-FFF2-40B4-BE49-F238E27FC236}">
                <a16:creationId xmlns:a16="http://schemas.microsoft.com/office/drawing/2014/main" id="{4EEC6537-2B6D-45BF-90AB-44CAF8A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D7B98F"/>
                </a:solidFill>
                <a:latin typeface="Calibri"/>
                <a:ea typeface="Calibri"/>
                <a:cs typeface="Calibri"/>
              </a:rPr>
              <a:t>Una función concreta</a:t>
            </a:r>
          </a:p>
        </p:txBody>
      </p:sp>
      <p:sp>
        <p:nvSpPr>
          <p:cNvPr id="6" name="texto-59n84j-5">
            <a:extLst xmlns:a="http://schemas.openxmlformats.org/drawingml/2006/main">
              <a:ext uri="{FF2B5EF4-FFF2-40B4-BE49-F238E27FC236}">
                <a16:creationId xmlns:a16="http://schemas.microsoft.com/office/drawing/2014/main" id="{42247E15-FA94-422B-86BD-BF3C5F9E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Proponer combinaciones de encantamientos desde un único formulario.</a:t>
            </a:r>
          </a:p>
        </p:txBody>
      </p:sp>
      <p:sp>
        <p:nvSpPr>
          <p:cNvPr id="7" name="texto-59n84j-6">
            <a:extLst xmlns:a="http://schemas.openxmlformats.org/drawingml/2006/main">
              <a:ext uri="{FF2B5EF4-FFF2-40B4-BE49-F238E27FC236}">
                <a16:creationId xmlns:a16="http://schemas.microsoft.com/office/drawing/2014/main" id="{26ACFE4F-F698-4A1A-B3C8-81524784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D7B98F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D7B98F"/>
                </a:solidFill>
                <a:latin typeface="Calibri"/>
                <a:ea typeface="Calibri"/>
                <a:cs typeface="Calibri"/>
              </a:rPr>
              <a:t>Un flujo comprobable</a:t>
            </a:r>
          </a:p>
        </p:txBody>
      </p:sp>
      <p:sp>
        <p:nvSpPr>
          <p:cNvPr id="8" name="texto-59n84j-7">
            <a:extLst xmlns:a="http://schemas.openxmlformats.org/drawingml/2006/main">
              <a:ext uri="{FF2B5EF4-FFF2-40B4-BE49-F238E27FC236}">
                <a16:creationId xmlns:a16="http://schemas.microsoft.com/office/drawing/2014/main" id="{47DEC716-A2FB-4420-BB1A-0E709FA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Contrato, validaciones y errores probados con mocks.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exactitud del cálculo y la evidencia de IA real requieren revisión.</a:t>
            </a:r>
          </a:p>
        </p:txBody>
      </p:sp>
    </p:spTree>
    <p:extLst>
      <p:ext uri="{BB962C8B-B14F-4D97-AF65-F5344CB8AC3E}">
        <p14:creationId xmlns:p14="http://schemas.microsoft.com/office/powerpoint/2010/main" val="154382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2026-10-13T08:31:14.3450000Z</dcterms:created>
  <dcterms:modified xsi:type="dcterms:W3CDTF">2026-10-13T08:31:14.3450000Z</dcterms:modified>
</coreProperties>
</file>