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  <p:sldId id="267" r:id="rId11"/>
    <p:sldId id="269" r:id="rId12"/>
    <p:sldId id="270" r:id="rId13"/>
    <p:sldId id="271" r:id="rId14"/>
    <p:sldId id="272" r:id="rId15"/>
    <p:sldId id="275" r:id="rId16"/>
    <p:sldId id="276" r:id="rId17"/>
    <p:sldId id="279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Presentación de App 1. Integrantes y reparto según la versión del README consultada anteriormente: Jesús, frontend; Hugo, backend. Referencia de organización temática: C:/Users/Clase/Downloads/FitAdapt-AI-Presentacion.pdf. Diseño y contenido propios de MeT. No cubre App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estructura temática adapta la referencia FitAdapt: proyecto, arquitectura, código, calidad y despliegue. Los diagramas se limitan a los que explican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interfaz pública https://met-frontend-zeta.vercel.app/ consultada el 13/10/2026. Esta captura muestra la pantalla inicial, no acredita una respuesta real de IA. Contrato: docs/contrato-api.md.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app1/frontend/src/App.vue, main.py, schemas.py y ai_client.py. La secuencia describe el modo real con configuración 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docs/contrato-api.md y schemas.py. Entrada ilustrativa válida. No se inventa una salida numérica ni se presenta una respuesta simulada como evidencia de IA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inventario local del 13/10/2026. Se muestran archivos presentes. Se excluyen entornos virtuales, cachés y otras carpetas auxiliares. La ERS no está presente en esta copia local aunque se preparó en una sesión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archivos actuales de app1/backend. Todas las referencias son relativas a esa carpeta.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enunciado, contrato-api.md y código. Resumen del alcance funcional, sin afirmar que una prueba real del proveedor se haya realizado durante esta preparación.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rules.py y schemas.py consultados el 13/10/2026. El backend contiene 58 objetos, 39 encantamientos y 8 conjuntos de incompatibilidad. No implica catálogo exhaustivo de Minecraft. El frontend local conserva 6 objetos y 17 encantamientos.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schemas.py, ProcessResponse y validate_plan. El número de pasos coincide con los libros y los recursos se consumen una sola vez. La suma se valida, pero los costes del juego y la optimalidad no se recalculan.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main.py, App.vue y ai_client.py. Diagrama de arquitectura, no UML formal. La configuración pública conecta dos orígenes de Vercel y CORS debe autorizar el del frontend.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docs/diagramas/secuencia-procesamiento.md y código del backend. Versión resumida para proyección. Requiere modo real y configuración válida. Fallos de conexión los detecta el cliente que inicia la consulta, no implican una respuesta del servidor remoto.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main.py y ai_client.py. No existe endpoint de autenticación de App 1. El 429 remoto se transforma en 502 IA_NO_DISPONIBLE. Un timeout no es una respuesta del proveedor.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app1/frontend/src/App.vue. Estados literales entrada, espera, resultado y error. La UI local bloquea el botón durante la espera; no se afirma que todos los controles queden bloqueados.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config.py y App.vue. No se ha leído ni incorporado una clave real. El frontend local mantiene USAR_RESPUESTA_FALSA=true; confirmar la revisión de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estructura actual, pytest.ini y scripts de package.json. Comandos desde la carpeta indicada, una vez instaladas las dependencias. En frontend no se encuentra un script npm test ni TypeScript.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Fuentes: código, tests ejecutados y captura pública. La presentación se centra solo en App 1. No se declara exactitud matemática de los costes ni una prueba real de IA realizada en esta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52D1E34-7D3C-4831-861A-8FE29DA72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EBE67404-794C-440F-BF46-DEE03F7E21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8E53B61-43B8-48B2-A7F1-ED827441E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3D545CC-8642-4B71-8A4F-ECE4DDC38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C4E5BF8-7A7E-4B06-A8B8-FCDDB304D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085462E-FE42-446F-8ABE-C9EE00F3C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2CA7DA9-A42E-4C86-AEB3-543F3263E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04FAA55C-FA0E-4DAD-A888-88422BDBF6F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A3B317C-3B9B-47FE-81BB-12DAD89B9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8712DD4-4783-4440-934A-799955447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o-8tncgz-0">
            <a:extLst>
              <a:ext uri="{FF2B5EF4-FFF2-40B4-BE49-F238E27FC236}">
                <a16:creationId xmlns:a16="http://schemas.microsoft.com/office/drawing/2014/main" id="{4292EEF9-D871-4DAF-9470-A49B7D09D7B0}"/>
              </a:ext>
            </a:extLst>
          </p:cNvPr>
          <p:cNvSpPr>
            <a:spLocks noGrp="1"/>
          </p:cNvSpPr>
          <p:nvPr/>
        </p:nvSpPr>
        <p:spPr>
          <a:xfrm>
            <a:off x="666750" y="5524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1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575" b="1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CDB6EA"/>
                </a:solidFill>
                <a:latin typeface="Calibri"/>
                <a:ea typeface="Calibri"/>
                <a:cs typeface="Calibri"/>
              </a:rPr>
              <a:t>PROYECTO 01 / APLICACIÓN 1</a:t>
            </a:r>
          </a:p>
        </p:txBody>
      </p:sp>
      <p:sp>
        <p:nvSpPr>
          <p:cNvPr id="2" name="texto-8tncgz-1">
            <a:extLst>
              <a:ext uri="{FF2B5EF4-FFF2-40B4-BE49-F238E27FC236}">
                <a16:creationId xmlns:a16="http://schemas.microsoft.com/office/drawing/2014/main" id="{6A5702E3-5256-4CF3-A987-9527BA5E993C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10477500" cy="1714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1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</a:t>
            </a:r>
          </a:p>
        </p:txBody>
      </p:sp>
      <p:sp>
        <p:nvSpPr>
          <p:cNvPr id="3" name="texto-8tncgz-2">
            <a:extLst>
              <a:ext uri="{FF2B5EF4-FFF2-40B4-BE49-F238E27FC236}">
                <a16:creationId xmlns:a16="http://schemas.microsoft.com/office/drawing/2014/main" id="{7F84EDDE-852B-4125-A825-07EFAD71A712}"/>
              </a:ext>
            </a:extLst>
          </p:cNvPr>
          <p:cNvSpPr>
            <a:spLocks noGrp="1"/>
          </p:cNvSpPr>
          <p:nvPr/>
        </p:nvSpPr>
        <p:spPr>
          <a:xfrm>
            <a:off x="666750" y="3429000"/>
            <a:ext cx="10477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450" b="0">
                <a:solidFill>
                  <a:srgbClr val="D7B98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450" b="0">
                <a:solidFill>
                  <a:srgbClr val="D7B98F"/>
                </a:solidFill>
                <a:latin typeface="Calibri"/>
                <a:ea typeface="Calibri"/>
                <a:cs typeface="Calibri"/>
              </a:defRPr>
            </a:pPr>
            <a:r>
              <a:rPr sz="3450" b="0">
                <a:solidFill>
                  <a:srgbClr val="D7B98F"/>
                </a:solidFill>
                <a:latin typeface="Calibri"/>
                <a:ea typeface="Calibri"/>
                <a:cs typeface="Calibri"/>
              </a:rPr>
              <a:t>Minecraft Enchanting Tool</a:t>
            </a:r>
          </a:p>
        </p:txBody>
      </p:sp>
      <p:sp>
        <p:nvSpPr>
          <p:cNvPr id="4" name="texto-8tncgz-3">
            <a:extLst>
              <a:ext uri="{FF2B5EF4-FFF2-40B4-BE49-F238E27FC236}">
                <a16:creationId xmlns:a16="http://schemas.microsoft.com/office/drawing/2014/main" id="{D26D2D82-4C53-40F9-BED8-EB2F2F3DF03D}"/>
              </a:ext>
            </a:extLst>
          </p:cNvPr>
          <p:cNvSpPr>
            <a:spLocks noGrp="1"/>
          </p:cNvSpPr>
          <p:nvPr/>
        </p:nvSpPr>
        <p:spPr>
          <a:xfrm>
            <a:off x="666750" y="4191000"/>
            <a:ext cx="100965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2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Planificación de combinaciones en el yunque con IA</a:t>
            </a:r>
          </a:p>
        </p:txBody>
      </p:sp>
      <p:sp>
        <p:nvSpPr>
          <p:cNvPr id="5" name="texto-8tncgz-4">
            <a:extLst>
              <a:ext uri="{FF2B5EF4-FFF2-40B4-BE49-F238E27FC236}">
                <a16:creationId xmlns:a16="http://schemas.microsoft.com/office/drawing/2014/main" id="{B3A4C082-2992-41A8-BA78-1032DDD254A5}"/>
              </a:ext>
            </a:extLst>
          </p:cNvPr>
          <p:cNvSpPr>
            <a:spLocks noGrp="1"/>
          </p:cNvSpPr>
          <p:nvPr/>
        </p:nvSpPr>
        <p:spPr>
          <a:xfrm>
            <a:off x="666750" y="57340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00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CDB6EA"/>
                </a:solidFill>
                <a:latin typeface="Calibri"/>
                <a:ea typeface="Calibri"/>
                <a:cs typeface="Calibri"/>
              </a:rPr>
              <a:t>Jesús Pérez Marinetto  /  Hugo Cáceres</a:t>
            </a:r>
          </a:p>
        </p:txBody>
      </p:sp>
      <p:sp>
        <p:nvSpPr>
          <p:cNvPr id="6" name="texto-8tncgz-5">
            <a:extLst>
              <a:ext uri="{FF2B5EF4-FFF2-40B4-BE49-F238E27FC236}">
                <a16:creationId xmlns:a16="http://schemas.microsoft.com/office/drawing/2014/main" id="{47AF9C45-95C8-44D6-A675-CF24250E35B8}"/>
              </a:ext>
            </a:extLst>
          </p:cNvPr>
          <p:cNvSpPr>
            <a:spLocks noGrp="1"/>
          </p:cNvSpPr>
          <p:nvPr/>
        </p:nvSpPr>
        <p:spPr>
          <a:xfrm>
            <a:off x="666750" y="6153150"/>
            <a:ext cx="9525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425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CDB6EA"/>
                </a:solidFill>
                <a:latin typeface="Calibri"/>
                <a:ea typeface="Calibri"/>
                <a:cs typeface="Calibri"/>
              </a:rPr>
              <a:t>13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25797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o-mw79n2-0">
            <a:extLst>
              <a:ext uri="{FF2B5EF4-FFF2-40B4-BE49-F238E27FC236}">
                <a16:creationId xmlns:a16="http://schemas.microsoft.com/office/drawing/2014/main" id="{98299A4F-C4DA-43C9-ABF1-752533F6E6F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RECORRIDO</a:t>
            </a:r>
          </a:p>
        </p:txBody>
      </p:sp>
      <p:sp>
        <p:nvSpPr>
          <p:cNvPr id="2" name="texto-mw79n2-1">
            <a:extLst>
              <a:ext uri="{FF2B5EF4-FFF2-40B4-BE49-F238E27FC236}">
                <a16:creationId xmlns:a16="http://schemas.microsoft.com/office/drawing/2014/main" id="{12B36C95-D8C3-4947-ACDB-2EE24BEFAF45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Contenido</a:t>
            </a:r>
          </a:p>
        </p:txBody>
      </p:sp>
      <p:sp>
        <p:nvSpPr>
          <p:cNvPr id="3" name="texto-mw79n2-2">
            <a:extLst>
              <a:ext uri="{FF2B5EF4-FFF2-40B4-BE49-F238E27FC236}">
                <a16:creationId xmlns:a16="http://schemas.microsoft.com/office/drawing/2014/main" id="{40FA2BC4-D5FB-4B88-A438-82EB1E6BC084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mw79n2-3">
            <a:extLst>
              <a:ext uri="{FF2B5EF4-FFF2-40B4-BE49-F238E27FC236}">
                <a16:creationId xmlns:a16="http://schemas.microsoft.com/office/drawing/2014/main" id="{8E05D681-438F-430B-9783-EFC9905E6A7A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5" name="texto-mw79n2-4">
            <a:extLst>
              <a:ext uri="{FF2B5EF4-FFF2-40B4-BE49-F238E27FC236}">
                <a16:creationId xmlns:a16="http://schemas.microsoft.com/office/drawing/2014/main" id="{0AD3CD77-3801-45DE-B742-A9ECDE739D68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01  Proyecto</a:t>
            </a:r>
          </a:p>
        </p:txBody>
      </p:sp>
      <p:sp>
        <p:nvSpPr>
          <p:cNvPr id="6" name="texto-mw79n2-5">
            <a:extLst>
              <a:ext uri="{FF2B5EF4-FFF2-40B4-BE49-F238E27FC236}">
                <a16:creationId xmlns:a16="http://schemas.microsoft.com/office/drawing/2014/main" id="{2FC15451-7043-4E0C-B425-38B54CBE8D0A}"/>
              </a:ext>
            </a:extLst>
          </p:cNvPr>
          <p:cNvSpPr>
            <a:spLocks noGrp="1"/>
          </p:cNvSpPr>
          <p:nvPr/>
        </p:nvSpPr>
        <p:spPr>
          <a:xfrm>
            <a:off x="609600" y="226695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Necesidad, funcionamiento y ejemplo de petición</a:t>
            </a:r>
          </a:p>
        </p:txBody>
      </p:sp>
      <p:sp>
        <p:nvSpPr>
          <p:cNvPr id="7" name="texto-mw79n2-6">
            <a:extLst>
              <a:ext uri="{FF2B5EF4-FFF2-40B4-BE49-F238E27FC236}">
                <a16:creationId xmlns:a16="http://schemas.microsoft.com/office/drawing/2014/main" id="{D51447A4-24F7-44A1-BDCB-2873118B25CE}"/>
              </a:ext>
            </a:extLst>
          </p:cNvPr>
          <p:cNvSpPr>
            <a:spLocks noGrp="1"/>
          </p:cNvSpPr>
          <p:nvPr/>
        </p:nvSpPr>
        <p:spPr>
          <a:xfrm>
            <a:off x="609600" y="2905125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02  Código y contrato</a:t>
            </a:r>
          </a:p>
        </p:txBody>
      </p:sp>
      <p:sp>
        <p:nvSpPr>
          <p:cNvPr id="8" name="texto-mw79n2-7">
            <a:extLst>
              <a:ext uri="{FF2B5EF4-FFF2-40B4-BE49-F238E27FC236}">
                <a16:creationId xmlns:a16="http://schemas.microsoft.com/office/drawing/2014/main" id="{0BCF037C-9EDC-4095-8A19-36B11B22CD2F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Tecnologías, archivos, validaciones y respuesta</a:t>
            </a:r>
          </a:p>
        </p:txBody>
      </p:sp>
      <p:sp>
        <p:nvSpPr>
          <p:cNvPr id="9" name="texto-mw79n2-8">
            <a:extLst>
              <a:ext uri="{FF2B5EF4-FFF2-40B4-BE49-F238E27FC236}">
                <a16:creationId xmlns:a16="http://schemas.microsoft.com/office/drawing/2014/main" id="{F8D1A1F9-0621-40B8-A939-5DB3C9C492A3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03  Arquitectura y calidad</a:t>
            </a:r>
          </a:p>
        </p:txBody>
      </p:sp>
      <p:sp>
        <p:nvSpPr>
          <p:cNvPr id="10" name="texto-mw79n2-9">
            <a:extLst>
              <a:ext uri="{FF2B5EF4-FFF2-40B4-BE49-F238E27FC236}">
                <a16:creationId xmlns:a16="http://schemas.microsoft.com/office/drawing/2014/main" id="{669239FF-96A7-4AEC-A2B7-6A2F5500F39F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Flujo, estados, integración con IA y pruebas</a:t>
            </a:r>
          </a:p>
        </p:txBody>
      </p:sp>
      <p:sp>
        <p:nvSpPr>
          <p:cNvPr id="11" name="texto-mw79n2-10">
            <a:extLst>
              <a:ext uri="{FF2B5EF4-FFF2-40B4-BE49-F238E27FC236}">
                <a16:creationId xmlns:a16="http://schemas.microsoft.com/office/drawing/2014/main" id="{86F248CA-CEEA-477C-92F8-2B95534C72E0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04  Ejecución y despliegue</a:t>
            </a:r>
          </a:p>
        </p:txBody>
      </p:sp>
      <p:sp>
        <p:nvSpPr>
          <p:cNvPr id="12" name="texto-mw79n2-11">
            <a:extLst>
              <a:ext uri="{FF2B5EF4-FFF2-40B4-BE49-F238E27FC236}">
                <a16:creationId xmlns:a16="http://schemas.microsoft.com/office/drawing/2014/main" id="{78C4AECF-0A57-447F-927B-D12EC2DB07C3}"/>
              </a:ext>
            </a:extLst>
          </p:cNvPr>
          <p:cNvSpPr>
            <a:spLocks noGrp="1"/>
          </p:cNvSpPr>
          <p:nvPr/>
        </p:nvSpPr>
        <p:spPr>
          <a:xfrm>
            <a:off x="609600" y="5267325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Configuración, Vercel, documentación y límites</a:t>
            </a:r>
          </a:p>
        </p:txBody>
      </p:sp>
    </p:spTree>
    <p:extLst>
      <p:ext uri="{BB962C8B-B14F-4D97-AF65-F5344CB8AC3E}">
        <p14:creationId xmlns:p14="http://schemas.microsoft.com/office/powerpoint/2010/main" val="63824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o-ig5vou-0">
            <a:extLst>
              <a:ext uri="{FF2B5EF4-FFF2-40B4-BE49-F238E27FC236}">
                <a16:creationId xmlns:a16="http://schemas.microsoft.com/office/drawing/2014/main" id="{6CD1E3E9-CD35-4C53-AF11-6CF0AAAB868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PROYECTO</a:t>
            </a:r>
          </a:p>
        </p:txBody>
      </p:sp>
      <p:sp>
        <p:nvSpPr>
          <p:cNvPr id="2" name="texto-ig5vou-1">
            <a:extLst>
              <a:ext uri="{FF2B5EF4-FFF2-40B4-BE49-F238E27FC236}">
                <a16:creationId xmlns:a16="http://schemas.microsoft.com/office/drawing/2014/main" id="{849CA5C0-7B9E-44BE-BDF9-7E37826B7DCB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Qué es MeT</a:t>
            </a:r>
          </a:p>
        </p:txBody>
      </p:sp>
      <p:sp>
        <p:nvSpPr>
          <p:cNvPr id="3" name="texto-ig5vou-2">
            <a:extLst>
              <a:ext uri="{FF2B5EF4-FFF2-40B4-BE49-F238E27FC236}">
                <a16:creationId xmlns:a16="http://schemas.microsoft.com/office/drawing/2014/main" id="{64C236F6-BDE8-4427-A95F-2AD0CE491594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ig5vou-3">
            <a:extLst>
              <a:ext uri="{FF2B5EF4-FFF2-40B4-BE49-F238E27FC236}">
                <a16:creationId xmlns:a16="http://schemas.microsoft.com/office/drawing/2014/main" id="{BA580DDC-11ED-4AEF-9BDB-BE93AEF03DDF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5" name="texto-ig5vou-4">
            <a:extLst>
              <a:ext uri="{FF2B5EF4-FFF2-40B4-BE49-F238E27FC236}">
                <a16:creationId xmlns:a16="http://schemas.microsoft.com/office/drawing/2014/main" id="{186DC4BB-D8FC-4308-A00C-89057403619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3810000" cy="15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32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Una pantalla para elegir un objeto y sus encantamientos, y consultar un orden de combinación.</a:t>
            </a:r>
          </a:p>
        </p:txBody>
      </p:sp>
      <p:sp>
        <p:nvSpPr>
          <p:cNvPr id="6" name="texto-ig5vou-5">
            <a:extLst>
              <a:ext uri="{FF2B5EF4-FFF2-40B4-BE49-F238E27FC236}">
                <a16:creationId xmlns:a16="http://schemas.microsoft.com/office/drawing/2014/main" id="{689084D7-ED3A-463C-9DEB-B75CA6CECB39}"/>
              </a:ext>
            </a:extLst>
          </p:cNvPr>
          <p:cNvSpPr>
            <a:spLocks noGrp="1"/>
          </p:cNvSpPr>
          <p:nvPr/>
        </p:nvSpPr>
        <p:spPr>
          <a:xfrm>
            <a:off x="609600" y="3762375"/>
            <a:ext cx="381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Entrada</a:t>
            </a:r>
          </a:p>
        </p:txBody>
      </p:sp>
      <p:sp>
        <p:nvSpPr>
          <p:cNvPr id="7" name="texto-ig5vou-6">
            <a:extLst>
              <a:ext uri="{FF2B5EF4-FFF2-40B4-BE49-F238E27FC236}">
                <a16:creationId xmlns:a16="http://schemas.microsoft.com/office/drawing/2014/main" id="{8E0CC827-6A3B-4F4B-BAF3-F57F6DAE686B}"/>
              </a:ext>
            </a:extLst>
          </p:cNvPr>
          <p:cNvSpPr>
            <a:spLocks noGrp="1"/>
          </p:cNvSpPr>
          <p:nvPr/>
        </p:nvSpPr>
        <p:spPr>
          <a:xfrm>
            <a:off x="609600" y="4124325"/>
            <a:ext cx="3810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Objeto, encantamientos y niveles.</a:t>
            </a:r>
          </a:p>
        </p:txBody>
      </p:sp>
      <p:sp>
        <p:nvSpPr>
          <p:cNvPr id="8" name="texto-ig5vou-7">
            <a:extLst>
              <a:ext uri="{FF2B5EF4-FFF2-40B4-BE49-F238E27FC236}">
                <a16:creationId xmlns:a16="http://schemas.microsoft.com/office/drawing/2014/main" id="{5705E170-776C-424A-B5EA-8F42D0DEE396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381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Salida</a:t>
            </a:r>
          </a:p>
        </p:txBody>
      </p:sp>
      <p:sp>
        <p:nvSpPr>
          <p:cNvPr id="9" name="texto-ig5vou-8">
            <a:extLst>
              <a:ext uri="{FF2B5EF4-FFF2-40B4-BE49-F238E27FC236}">
                <a16:creationId xmlns:a16="http://schemas.microsoft.com/office/drawing/2014/main" id="{1C1C7A4A-B6CC-44F3-8CD5-00ADB45051C1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3810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Pasos, coste estimado y advertencias.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0002FAE-68BE-4100-8CD0-7C308CC9DD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558" t="4658" r="6844" b="14045"/>
          <a:stretch>
            <a:fillRect/>
          </a:stretch>
        </p:blipFill>
        <p:spPr>
          <a:xfrm>
            <a:off x="5753100" y="304800"/>
            <a:ext cx="5221223" cy="2929310"/>
          </a:xfrm>
          <a:prstGeom prst="rect">
            <a:avLst/>
          </a:prstGeom>
        </p:spPr>
      </p:pic>
      <p:sp>
        <p:nvSpPr>
          <p:cNvPr id="11" name="texto-ig5vou-9">
            <a:extLst>
              <a:ext uri="{FF2B5EF4-FFF2-40B4-BE49-F238E27FC236}">
                <a16:creationId xmlns:a16="http://schemas.microsoft.com/office/drawing/2014/main" id="{338C474C-9793-4E5A-A0E6-7B153D709832}"/>
              </a:ext>
            </a:extLst>
          </p:cNvPr>
          <p:cNvSpPr>
            <a:spLocks noGrp="1"/>
          </p:cNvSpPr>
          <p:nvPr/>
        </p:nvSpPr>
        <p:spPr>
          <a:xfrm>
            <a:off x="4905375" y="595312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endParaRPr sz="1275" b="0" dirty="0">
              <a:solidFill>
                <a:srgbClr val="6C637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790B98-C896-7816-6139-3822CFA72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3431521"/>
            <a:ext cx="5221223" cy="262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23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o-rwd2jq-0">
            <a:extLst>
              <a:ext uri="{FF2B5EF4-FFF2-40B4-BE49-F238E27FC236}">
                <a16:creationId xmlns:a16="http://schemas.microsoft.com/office/drawing/2014/main" id="{460F6CDB-A1E3-4D26-B815-CBAE25F4D54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FUNCIONAMIENTO</a:t>
            </a:r>
          </a:p>
        </p:txBody>
      </p:sp>
      <p:sp>
        <p:nvSpPr>
          <p:cNvPr id="2" name="texto-rwd2jq-1">
            <a:extLst>
              <a:ext uri="{FF2B5EF4-FFF2-40B4-BE49-F238E27FC236}">
                <a16:creationId xmlns:a16="http://schemas.microsoft.com/office/drawing/2014/main" id="{D3CC067D-1413-4751-95DF-F13315E0A7F0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Flujo operativo</a:t>
            </a:r>
          </a:p>
        </p:txBody>
      </p:sp>
      <p:sp>
        <p:nvSpPr>
          <p:cNvPr id="3" name="texto-rwd2jq-2">
            <a:extLst>
              <a:ext uri="{FF2B5EF4-FFF2-40B4-BE49-F238E27FC236}">
                <a16:creationId xmlns:a16="http://schemas.microsoft.com/office/drawing/2014/main" id="{BEBB7E80-4F62-40BD-B7BF-A0A1EB8757C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rwd2jq-3">
            <a:extLst>
              <a:ext uri="{FF2B5EF4-FFF2-40B4-BE49-F238E27FC236}">
                <a16:creationId xmlns:a16="http://schemas.microsoft.com/office/drawing/2014/main" id="{01FCC7ED-46F5-4217-BE2C-CFF2EE611001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5" name="texto-rwd2jq-4">
            <a:extLst>
              <a:ext uri="{FF2B5EF4-FFF2-40B4-BE49-F238E27FC236}">
                <a16:creationId xmlns:a16="http://schemas.microsoft.com/office/drawing/2014/main" id="{D3CCD0AC-22A2-45D9-B412-3404E13100F0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1. Selección</a:t>
            </a:r>
          </a:p>
        </p:txBody>
      </p:sp>
      <p:sp>
        <p:nvSpPr>
          <p:cNvPr id="6" name="texto-rwd2jq-5">
            <a:extLst>
              <a:ext uri="{FF2B5EF4-FFF2-40B4-BE49-F238E27FC236}">
                <a16:creationId xmlns:a16="http://schemas.microsoft.com/office/drawing/2014/main" id="{6E11A334-777C-4B15-A5DC-15DFF103749B}"/>
              </a:ext>
            </a:extLst>
          </p:cNvPr>
          <p:cNvSpPr>
            <a:spLocks noGrp="1"/>
          </p:cNvSpPr>
          <p:nvPr/>
        </p:nvSpPr>
        <p:spPr>
          <a:xfrm>
            <a:off x="609600" y="226695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El jugador elige un objeto y entre 1 y 8 encantamientos.</a:t>
            </a:r>
          </a:p>
        </p:txBody>
      </p:sp>
      <p:sp>
        <p:nvSpPr>
          <p:cNvPr id="7" name="texto-rwd2jq-6">
            <a:extLst>
              <a:ext uri="{FF2B5EF4-FFF2-40B4-BE49-F238E27FC236}">
                <a16:creationId xmlns:a16="http://schemas.microsoft.com/office/drawing/2014/main" id="{E06E13A5-4848-4B65-96DF-BB31DB7E49C7}"/>
              </a:ext>
            </a:extLst>
          </p:cNvPr>
          <p:cNvSpPr>
            <a:spLocks noGrp="1"/>
          </p:cNvSpPr>
          <p:nvPr/>
        </p:nvSpPr>
        <p:spPr>
          <a:xfrm>
            <a:off x="609600" y="2905125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2. Validación</a:t>
            </a:r>
          </a:p>
        </p:txBody>
      </p:sp>
      <p:sp>
        <p:nvSpPr>
          <p:cNvPr id="8" name="texto-rwd2jq-7">
            <a:extLst>
              <a:ext uri="{FF2B5EF4-FFF2-40B4-BE49-F238E27FC236}">
                <a16:creationId xmlns:a16="http://schemas.microsoft.com/office/drawing/2014/main" id="{2BB3A2DC-C67B-4DE8-AE0F-43B27C732AC8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FastAPI comprueba tipos, niveles y compatibilidad.</a:t>
            </a:r>
          </a:p>
        </p:txBody>
      </p:sp>
      <p:sp>
        <p:nvSpPr>
          <p:cNvPr id="9" name="texto-rwd2jq-8">
            <a:extLst>
              <a:ext uri="{FF2B5EF4-FFF2-40B4-BE49-F238E27FC236}">
                <a16:creationId xmlns:a16="http://schemas.microsoft.com/office/drawing/2014/main" id="{49E710AA-6B20-4D87-B3F7-7D4AE2258C45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3. Consulta</a:t>
            </a:r>
          </a:p>
        </p:txBody>
      </p:sp>
      <p:sp>
        <p:nvSpPr>
          <p:cNvPr id="10" name="texto-rwd2jq-9">
            <a:extLst>
              <a:ext uri="{FF2B5EF4-FFF2-40B4-BE49-F238E27FC236}">
                <a16:creationId xmlns:a16="http://schemas.microsoft.com/office/drawing/2014/main" id="{99C08EAC-1AC7-4113-BDB6-DF39CF754AB5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El backend solicita un plan a OpenRouter una sola vez.</a:t>
            </a:r>
          </a:p>
        </p:txBody>
      </p:sp>
      <p:sp>
        <p:nvSpPr>
          <p:cNvPr id="11" name="texto-rwd2jq-10">
            <a:extLst>
              <a:ext uri="{FF2B5EF4-FFF2-40B4-BE49-F238E27FC236}">
                <a16:creationId xmlns:a16="http://schemas.microsoft.com/office/drawing/2014/main" id="{E81B486A-44C1-4333-8AFB-5C1F6B2FFAC5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4. Presentación</a:t>
            </a:r>
          </a:p>
        </p:txBody>
      </p:sp>
      <p:sp>
        <p:nvSpPr>
          <p:cNvPr id="12" name="texto-rwd2jq-11">
            <a:extLst>
              <a:ext uri="{FF2B5EF4-FFF2-40B4-BE49-F238E27FC236}">
                <a16:creationId xmlns:a16="http://schemas.microsoft.com/office/drawing/2014/main" id="{536A858F-5C8F-40EA-A5A2-84837841C4A8}"/>
              </a:ext>
            </a:extLst>
          </p:cNvPr>
          <p:cNvSpPr>
            <a:spLocks noGrp="1"/>
          </p:cNvSpPr>
          <p:nvPr/>
        </p:nvSpPr>
        <p:spPr>
          <a:xfrm>
            <a:off x="609600" y="5267325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La interfaz muestra el resultado o el error en la misma pantalla.</a:t>
            </a:r>
          </a:p>
        </p:txBody>
      </p:sp>
    </p:spTree>
    <p:extLst>
      <p:ext uri="{BB962C8B-B14F-4D97-AF65-F5344CB8AC3E}">
        <p14:creationId xmlns:p14="http://schemas.microsoft.com/office/powerpoint/2010/main" val="694690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o-yyp1uh-0">
            <a:extLst>
              <a:ext uri="{FF2B5EF4-FFF2-40B4-BE49-F238E27FC236}">
                <a16:creationId xmlns:a16="http://schemas.microsoft.com/office/drawing/2014/main" id="{763549A8-2F05-4855-A247-34C4151DC12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CONTRATO HTTP</a:t>
            </a:r>
          </a:p>
        </p:txBody>
      </p:sp>
      <p:sp>
        <p:nvSpPr>
          <p:cNvPr id="2" name="texto-yyp1uh-1">
            <a:extLst>
              <a:ext uri="{FF2B5EF4-FFF2-40B4-BE49-F238E27FC236}">
                <a16:creationId xmlns:a16="http://schemas.microsoft.com/office/drawing/2014/main" id="{4A2EAF72-4D48-4818-BEF5-5F90CE61A675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Ejemplo de solicitud</a:t>
            </a:r>
          </a:p>
        </p:txBody>
      </p:sp>
      <p:sp>
        <p:nvSpPr>
          <p:cNvPr id="3" name="texto-yyp1uh-2">
            <a:extLst>
              <a:ext uri="{FF2B5EF4-FFF2-40B4-BE49-F238E27FC236}">
                <a16:creationId xmlns:a16="http://schemas.microsoft.com/office/drawing/2014/main" id="{2CFB6AE6-2FAE-46B4-9EA6-7BCBD7683118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yyp1uh-3">
            <a:extLst>
              <a:ext uri="{FF2B5EF4-FFF2-40B4-BE49-F238E27FC236}">
                <a16:creationId xmlns:a16="http://schemas.microsoft.com/office/drawing/2014/main" id="{5BB2C1B7-1AB5-44B6-9EC4-223CE7FE8AA2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5" name="texto-yyp1uh-4">
            <a:extLst>
              <a:ext uri="{FF2B5EF4-FFF2-40B4-BE49-F238E27FC236}">
                <a16:creationId xmlns:a16="http://schemas.microsoft.com/office/drawing/2014/main" id="{8DB42622-F75B-4D96-B900-8A70524BAAD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4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POST /api/procesar</a:t>
            </a:r>
          </a:p>
        </p:txBody>
      </p:sp>
      <p:sp>
        <p:nvSpPr>
          <p:cNvPr id="6" name="texto-yyp1uh-5">
            <a:extLst>
              <a:ext uri="{FF2B5EF4-FFF2-40B4-BE49-F238E27FC236}">
                <a16:creationId xmlns:a16="http://schemas.microsoft.com/office/drawing/2014/main" id="{F00AC3C8-25A9-4D55-86B6-2B092FAE5587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7429500" cy="3095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"objeto": "diamond_sword",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"encantamientos": [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{"nombre": "sharpness", "nivel": 5},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{"nombre": "mending", "nivel": 1}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]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texto-yyp1uh-6">
            <a:extLst>
              <a:ext uri="{FF2B5EF4-FFF2-40B4-BE49-F238E27FC236}">
                <a16:creationId xmlns:a16="http://schemas.microsoft.com/office/drawing/2014/main" id="{34D6BBC9-C5AA-48AE-99B8-F021E5BA2063}"/>
              </a:ext>
            </a:extLst>
          </p:cNvPr>
          <p:cNvSpPr>
            <a:spLocks noGrp="1"/>
          </p:cNvSpPr>
          <p:nvPr/>
        </p:nvSpPr>
        <p:spPr>
          <a:xfrm>
            <a:off x="8429625" y="257175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1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Espada de diamante</a:t>
            </a:r>
          </a:p>
        </p:txBody>
      </p:sp>
      <p:sp>
        <p:nvSpPr>
          <p:cNvPr id="8" name="texto-yyp1uh-7">
            <a:extLst>
              <a:ext uri="{FF2B5EF4-FFF2-40B4-BE49-F238E27FC236}">
                <a16:creationId xmlns:a16="http://schemas.microsoft.com/office/drawing/2014/main" id="{84B3475A-972B-471A-A24E-972AFE42D98C}"/>
              </a:ext>
            </a:extLst>
          </p:cNvPr>
          <p:cNvSpPr>
            <a:spLocks noGrp="1"/>
          </p:cNvSpPr>
          <p:nvPr/>
        </p:nvSpPr>
        <p:spPr>
          <a:xfrm>
            <a:off x="8429625" y="3333750"/>
            <a:ext cx="3048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2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Filo V</a:t>
            </a:r>
          </a:p>
          <a:p>
            <a:pPr>
              <a:defRPr sz="22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Reparación I</a:t>
            </a:r>
          </a:p>
        </p:txBody>
      </p:sp>
      <p:sp>
        <p:nvSpPr>
          <p:cNvPr id="9" name="texto-yyp1uh-8">
            <a:extLst>
              <a:ext uri="{FF2B5EF4-FFF2-40B4-BE49-F238E27FC236}">
                <a16:creationId xmlns:a16="http://schemas.microsoft.com/office/drawing/2014/main" id="{317AE6EF-0F6C-45A8-9251-49CD4A7E1504}"/>
              </a:ext>
            </a:extLst>
          </p:cNvPr>
          <p:cNvSpPr>
            <a:spLocks noGrp="1"/>
          </p:cNvSpPr>
          <p:nvPr/>
        </p:nvSpPr>
        <p:spPr>
          <a:xfrm>
            <a:off x="8429625" y="4667250"/>
            <a:ext cx="3048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El contrato usa identificadores en inglés y niveles enteros.</a:t>
            </a:r>
          </a:p>
        </p:txBody>
      </p:sp>
    </p:spTree>
    <p:extLst>
      <p:ext uri="{BB962C8B-B14F-4D97-AF65-F5344CB8AC3E}">
        <p14:creationId xmlns:p14="http://schemas.microsoft.com/office/powerpoint/2010/main" val="2125555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o-97yxdk-0">
            <a:extLst>
              <a:ext uri="{FF2B5EF4-FFF2-40B4-BE49-F238E27FC236}">
                <a16:creationId xmlns:a16="http://schemas.microsoft.com/office/drawing/2014/main" id="{28E4ECCE-DD1F-482F-A98F-E5140E025D8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MONOREPOSITORIO</a:t>
            </a:r>
          </a:p>
        </p:txBody>
      </p:sp>
      <p:sp>
        <p:nvSpPr>
          <p:cNvPr id="2" name="texto-97yxdk-1">
            <a:extLst>
              <a:ext uri="{FF2B5EF4-FFF2-40B4-BE49-F238E27FC236}">
                <a16:creationId xmlns:a16="http://schemas.microsoft.com/office/drawing/2014/main" id="{ACAC6155-B9BD-4B08-9288-F85553EB655B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Estructura del proyecto</a:t>
            </a:r>
          </a:p>
        </p:txBody>
      </p:sp>
      <p:sp>
        <p:nvSpPr>
          <p:cNvPr id="3" name="texto-97yxdk-2">
            <a:extLst>
              <a:ext uri="{FF2B5EF4-FFF2-40B4-BE49-F238E27FC236}">
                <a16:creationId xmlns:a16="http://schemas.microsoft.com/office/drawing/2014/main" id="{DCC27548-721D-4BE7-B411-C0D49F0C3ABF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97yxdk-3">
            <a:extLst>
              <a:ext uri="{FF2B5EF4-FFF2-40B4-BE49-F238E27FC236}">
                <a16:creationId xmlns:a16="http://schemas.microsoft.com/office/drawing/2014/main" id="{235003FD-1CB8-44A8-9074-11DC2E3ECFA5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5" name="texto-97yxdk-4">
            <a:extLst>
              <a:ext uri="{FF2B5EF4-FFF2-40B4-BE49-F238E27FC236}">
                <a16:creationId xmlns:a16="http://schemas.microsoft.com/office/drawing/2014/main" id="{BA4DE5D5-3FBE-499E-A2AD-5DFAA5A9C073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7715250" cy="409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Minecraft-Enchanting-Tool/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app1/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backend/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  main.py, schemas.py, rules.py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  ai_client.py, config.py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  tests/test_backend.py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  requirements.txt, </a:t>
            </a:r>
            <a:r>
              <a:rPr sz="1875" b="0" dirty="0" err="1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vercel.json</a:t>
            </a:r>
            <a:endParaRPr sz="1875" b="0" dirty="0">
              <a:solidFill>
                <a:srgbClr val="292335"/>
              </a:solidFill>
              <a:latin typeface="Consolas"/>
              <a:ea typeface="Consolas"/>
              <a:cs typeface="Consolas"/>
            </a:endParaRP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frontend/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875" b="0" dirty="0" err="1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75" b="0" dirty="0" err="1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App.vue</a:t>
            </a: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, main.js, style.css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875" b="0" dirty="0" err="1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package.json</a:t>
            </a: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, vite.config.js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docs/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contrato-api.md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    diagramas/secuencia-procesamiento.md</a:t>
            </a:r>
          </a:p>
        </p:txBody>
      </p:sp>
      <p:sp>
        <p:nvSpPr>
          <p:cNvPr id="6" name="texto-97yxdk-5">
            <a:extLst>
              <a:ext uri="{FF2B5EF4-FFF2-40B4-BE49-F238E27FC236}">
                <a16:creationId xmlns:a16="http://schemas.microsoft.com/office/drawing/2014/main" id="{42BD7684-1C33-4194-B6CF-6A842780FBCC}"/>
              </a:ext>
            </a:extLst>
          </p:cNvPr>
          <p:cNvSpPr>
            <a:spLocks noGrp="1"/>
          </p:cNvSpPr>
          <p:nvPr/>
        </p:nvSpPr>
        <p:spPr>
          <a:xfrm>
            <a:off x="8763000" y="2095500"/>
            <a:ext cx="2476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25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Código</a:t>
            </a:r>
          </a:p>
        </p:txBody>
      </p:sp>
      <p:sp>
        <p:nvSpPr>
          <p:cNvPr id="7" name="texto-97yxdk-6">
            <a:extLst>
              <a:ext uri="{FF2B5EF4-FFF2-40B4-BE49-F238E27FC236}">
                <a16:creationId xmlns:a16="http://schemas.microsoft.com/office/drawing/2014/main" id="{2904953B-38C5-4E07-92DD-5C3E05E29F01}"/>
              </a:ext>
            </a:extLst>
          </p:cNvPr>
          <p:cNvSpPr>
            <a:spLocks noGrp="1"/>
          </p:cNvSpPr>
          <p:nvPr/>
        </p:nvSpPr>
        <p:spPr>
          <a:xfrm>
            <a:off x="8763000" y="2590800"/>
            <a:ext cx="26670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Dos carpetas para trabajar frontend y backend por separado.</a:t>
            </a:r>
          </a:p>
        </p:txBody>
      </p:sp>
      <p:sp>
        <p:nvSpPr>
          <p:cNvPr id="8" name="texto-97yxdk-7">
            <a:extLst>
              <a:ext uri="{FF2B5EF4-FFF2-40B4-BE49-F238E27FC236}">
                <a16:creationId xmlns:a16="http://schemas.microsoft.com/office/drawing/2014/main" id="{F709FCA7-C3B9-438D-80E9-D9FCFAC76F18}"/>
              </a:ext>
            </a:extLst>
          </p:cNvPr>
          <p:cNvSpPr>
            <a:spLocks noGrp="1"/>
          </p:cNvSpPr>
          <p:nvPr/>
        </p:nvSpPr>
        <p:spPr>
          <a:xfrm>
            <a:off x="8763000" y="4181475"/>
            <a:ext cx="2667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25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Documentación</a:t>
            </a:r>
          </a:p>
        </p:txBody>
      </p:sp>
      <p:sp>
        <p:nvSpPr>
          <p:cNvPr id="9" name="texto-97yxdk-8">
            <a:extLst>
              <a:ext uri="{FF2B5EF4-FFF2-40B4-BE49-F238E27FC236}">
                <a16:creationId xmlns:a16="http://schemas.microsoft.com/office/drawing/2014/main" id="{4F245D34-0F9F-401E-AE24-6F02AC8D05EE}"/>
              </a:ext>
            </a:extLst>
          </p:cNvPr>
          <p:cNvSpPr>
            <a:spLocks noGrp="1"/>
          </p:cNvSpPr>
          <p:nvPr/>
        </p:nvSpPr>
        <p:spPr>
          <a:xfrm>
            <a:off x="8763000" y="4676775"/>
            <a:ext cx="266700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Contrato compartido y secuencia del procesamiento.</a:t>
            </a:r>
          </a:p>
        </p:txBody>
      </p:sp>
    </p:spTree>
    <p:extLst>
      <p:ext uri="{BB962C8B-B14F-4D97-AF65-F5344CB8AC3E}">
        <p14:creationId xmlns:p14="http://schemas.microsoft.com/office/powerpoint/2010/main" val="1039548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o-siibyw-0">
            <a:extLst>
              <a:ext uri="{FF2B5EF4-FFF2-40B4-BE49-F238E27FC236}">
                <a16:creationId xmlns:a16="http://schemas.microsoft.com/office/drawing/2014/main" id="{89750ECA-D92A-41E4-BE62-28905B6FDEE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BACKEND</a:t>
            </a:r>
          </a:p>
        </p:txBody>
      </p:sp>
      <p:sp>
        <p:nvSpPr>
          <p:cNvPr id="2" name="texto-siibyw-1">
            <a:extLst>
              <a:ext uri="{FF2B5EF4-FFF2-40B4-BE49-F238E27FC236}">
                <a16:creationId xmlns:a16="http://schemas.microsoft.com/office/drawing/2014/main" id="{E289FE6E-3601-4751-9172-9D777491996A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Responsabilidad de cada archivo</a:t>
            </a:r>
          </a:p>
        </p:txBody>
      </p:sp>
      <p:sp>
        <p:nvSpPr>
          <p:cNvPr id="3" name="texto-siibyw-2">
            <a:extLst>
              <a:ext uri="{FF2B5EF4-FFF2-40B4-BE49-F238E27FC236}">
                <a16:creationId xmlns:a16="http://schemas.microsoft.com/office/drawing/2014/main" id="{AF9054E1-3D47-41E8-AF71-E02F7F9AFCD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siibyw-3">
            <a:extLst>
              <a:ext uri="{FF2B5EF4-FFF2-40B4-BE49-F238E27FC236}">
                <a16:creationId xmlns:a16="http://schemas.microsoft.com/office/drawing/2014/main" id="{969BD5AF-B258-44EA-82F3-FA2C22D63376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060DFE-9F69-4C0F-80F0-F59FCB72EF99}"/>
              </a:ext>
            </a:extLst>
          </p:cNvPr>
          <p:cNvGraphicFramePr/>
          <p:nvPr/>
        </p:nvGraphicFramePr>
        <p:xfrm>
          <a:off x="609600" y="1809750"/>
          <a:ext cx="10972800" cy="4267200"/>
        </p:xfrm>
        <a:graphic>
          <a:graphicData uri="http://schemas.openxmlformats.org/drawingml/2006/table">
            <a:tbl>
              <a:tblPr/>
              <a:tblGrid>
                <a:gridCol w="3381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91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Archivo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Responsabilidad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main.py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Expone el endpoint, configura CORS y traduce errores.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schemas.py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Define los datos y valida entrada y plan de salida.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rules.py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Contiene objetos, niveles y grupos incompatibles.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ai_client.py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Construye el prompt y realiza la consulta a OpenRouter.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config.py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Carga modo, clave, modelo, timeout y orígenes.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tests/test_backend.py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Prueba contrato, validaciones y fallos con mocks.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883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o-h63va7-0">
            <a:extLst>
              <a:ext uri="{FF2B5EF4-FFF2-40B4-BE49-F238E27FC236}">
                <a16:creationId xmlns:a16="http://schemas.microsoft.com/office/drawing/2014/main" id="{8ACCCAE7-0B08-496A-B147-09E6085F85F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ALCANCE DE APP 1</a:t>
            </a:r>
          </a:p>
        </p:txBody>
      </p:sp>
      <p:sp>
        <p:nvSpPr>
          <p:cNvPr id="2" name="texto-h63va7-1">
            <a:extLst>
              <a:ext uri="{FF2B5EF4-FFF2-40B4-BE49-F238E27FC236}">
                <a16:creationId xmlns:a16="http://schemas.microsoft.com/office/drawing/2014/main" id="{98243DA8-4E8D-46F1-A23A-6D80E781A71C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Requisitos funcionales</a:t>
            </a:r>
          </a:p>
        </p:txBody>
      </p:sp>
      <p:sp>
        <p:nvSpPr>
          <p:cNvPr id="3" name="texto-h63va7-2">
            <a:extLst>
              <a:ext uri="{FF2B5EF4-FFF2-40B4-BE49-F238E27FC236}">
                <a16:creationId xmlns:a16="http://schemas.microsoft.com/office/drawing/2014/main" id="{886D7734-5824-476A-9904-25F507B2D22C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h63va7-3">
            <a:extLst>
              <a:ext uri="{FF2B5EF4-FFF2-40B4-BE49-F238E27FC236}">
                <a16:creationId xmlns:a16="http://schemas.microsoft.com/office/drawing/2014/main" id="{F1471D5C-78D3-4838-9DA5-34E5F2BB0180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5" name="texto-h63va7-4">
            <a:extLst>
              <a:ext uri="{FF2B5EF4-FFF2-40B4-BE49-F238E27FC236}">
                <a16:creationId xmlns:a16="http://schemas.microsoft.com/office/drawing/2014/main" id="{2CE5AC0C-B0D7-4BA4-8901-B7D6BB2E2BE5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Formulario único</a:t>
            </a:r>
          </a:p>
        </p:txBody>
      </p:sp>
      <p:sp>
        <p:nvSpPr>
          <p:cNvPr id="6" name="texto-h63va7-5">
            <a:extLst>
              <a:ext uri="{FF2B5EF4-FFF2-40B4-BE49-F238E27FC236}">
                <a16:creationId xmlns:a16="http://schemas.microsoft.com/office/drawing/2014/main" id="{9CFEFB20-72CC-4DBC-9CCA-4B3FDA7E248F}"/>
              </a:ext>
            </a:extLst>
          </p:cNvPr>
          <p:cNvSpPr>
            <a:spLocks noGrp="1"/>
          </p:cNvSpPr>
          <p:nvPr/>
        </p:nvSpPr>
        <p:spPr>
          <a:xfrm>
            <a:off x="609600" y="226695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Selección de objeto y encantamientos desde listas cerradas.</a:t>
            </a:r>
          </a:p>
        </p:txBody>
      </p:sp>
      <p:sp>
        <p:nvSpPr>
          <p:cNvPr id="7" name="texto-h63va7-6">
            <a:extLst>
              <a:ext uri="{FF2B5EF4-FFF2-40B4-BE49-F238E27FC236}">
                <a16:creationId xmlns:a16="http://schemas.microsoft.com/office/drawing/2014/main" id="{E674AE2C-D4E4-4CD7-AD9E-6827F94085D7}"/>
              </a:ext>
            </a:extLst>
          </p:cNvPr>
          <p:cNvSpPr>
            <a:spLocks noGrp="1"/>
          </p:cNvSpPr>
          <p:nvPr/>
        </p:nvSpPr>
        <p:spPr>
          <a:xfrm>
            <a:off x="609600" y="2905125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Validación previa</a:t>
            </a:r>
          </a:p>
        </p:txBody>
      </p:sp>
      <p:sp>
        <p:nvSpPr>
          <p:cNvPr id="8" name="texto-h63va7-7">
            <a:extLst>
              <a:ext uri="{FF2B5EF4-FFF2-40B4-BE49-F238E27FC236}">
                <a16:creationId xmlns:a16="http://schemas.microsoft.com/office/drawing/2014/main" id="{2A5ED0D3-DFB6-4BCE-8241-0EDF5CE02DED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Rechazo de entradas inválidas antes de consultar a la IA.</a:t>
            </a:r>
          </a:p>
        </p:txBody>
      </p:sp>
      <p:sp>
        <p:nvSpPr>
          <p:cNvPr id="9" name="texto-h63va7-8">
            <a:extLst>
              <a:ext uri="{FF2B5EF4-FFF2-40B4-BE49-F238E27FC236}">
                <a16:creationId xmlns:a16="http://schemas.microsoft.com/office/drawing/2014/main" id="{D577BABD-9CE8-4331-B448-6E47D0A52AA2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Consulta y comprobación</a:t>
            </a:r>
          </a:p>
        </p:txBody>
      </p:sp>
      <p:sp>
        <p:nvSpPr>
          <p:cNvPr id="10" name="texto-h63va7-9">
            <a:extLst>
              <a:ext uri="{FF2B5EF4-FFF2-40B4-BE49-F238E27FC236}">
                <a16:creationId xmlns:a16="http://schemas.microsoft.com/office/drawing/2014/main" id="{40310A8B-B977-4EC9-8D5D-B24287F1B561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Una solicitud externa y validación del plan recibido.</a:t>
            </a:r>
          </a:p>
        </p:txBody>
      </p:sp>
      <p:sp>
        <p:nvSpPr>
          <p:cNvPr id="11" name="texto-h63va7-10">
            <a:extLst>
              <a:ext uri="{FF2B5EF4-FFF2-40B4-BE49-F238E27FC236}">
                <a16:creationId xmlns:a16="http://schemas.microsoft.com/office/drawing/2014/main" id="{6B8D74AB-2770-4658-B6BF-9C41DD47B1C5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Resultado y recuperación</a:t>
            </a:r>
          </a:p>
        </p:txBody>
      </p:sp>
      <p:sp>
        <p:nvSpPr>
          <p:cNvPr id="12" name="texto-h63va7-11">
            <a:extLst>
              <a:ext uri="{FF2B5EF4-FFF2-40B4-BE49-F238E27FC236}">
                <a16:creationId xmlns:a16="http://schemas.microsoft.com/office/drawing/2014/main" id="{7B88BF8F-159B-4B51-A80E-20DABD807B06}"/>
              </a:ext>
            </a:extLst>
          </p:cNvPr>
          <p:cNvSpPr>
            <a:spLocks noGrp="1"/>
          </p:cNvSpPr>
          <p:nvPr/>
        </p:nvSpPr>
        <p:spPr>
          <a:xfrm>
            <a:off x="609600" y="5267325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Pasos y errores en la misma vista, con nuevos envíos manuales.</a:t>
            </a:r>
          </a:p>
        </p:txBody>
      </p:sp>
    </p:spTree>
    <p:extLst>
      <p:ext uri="{BB962C8B-B14F-4D97-AF65-F5344CB8AC3E}">
        <p14:creationId xmlns:p14="http://schemas.microsoft.com/office/powerpoint/2010/main" val="1107431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o-fiw5e5-0">
            <a:extLst>
              <a:ext uri="{FF2B5EF4-FFF2-40B4-BE49-F238E27FC236}">
                <a16:creationId xmlns:a16="http://schemas.microsoft.com/office/drawing/2014/main" id="{33060CCC-2AF4-474A-9FEA-5274324E827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VALIDACIÓN</a:t>
            </a:r>
          </a:p>
        </p:txBody>
      </p:sp>
      <p:sp>
        <p:nvSpPr>
          <p:cNvPr id="2" name="texto-fiw5e5-1">
            <a:extLst>
              <a:ext uri="{FF2B5EF4-FFF2-40B4-BE49-F238E27FC236}">
                <a16:creationId xmlns:a16="http://schemas.microsoft.com/office/drawing/2014/main" id="{EA7A5877-D793-454B-B606-6863A86C522F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Reglas y límites de entrada</a:t>
            </a:r>
          </a:p>
        </p:txBody>
      </p:sp>
      <p:sp>
        <p:nvSpPr>
          <p:cNvPr id="3" name="texto-fiw5e5-2">
            <a:extLst>
              <a:ext uri="{FF2B5EF4-FFF2-40B4-BE49-F238E27FC236}">
                <a16:creationId xmlns:a16="http://schemas.microsoft.com/office/drawing/2014/main" id="{62F44127-9CC9-40E4-BA9B-2BF0B5876FA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fiw5e5-3">
            <a:extLst>
              <a:ext uri="{FF2B5EF4-FFF2-40B4-BE49-F238E27FC236}">
                <a16:creationId xmlns:a16="http://schemas.microsoft.com/office/drawing/2014/main" id="{C1B3AAFF-8B18-4254-9FC1-3E1D262BDE84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" name="texto-fiw5e5-4">
            <a:extLst>
              <a:ext uri="{FF2B5EF4-FFF2-40B4-BE49-F238E27FC236}">
                <a16:creationId xmlns:a16="http://schemas.microsoft.com/office/drawing/2014/main" id="{DAA3F263-DC95-4455-9769-A7A822DF2AF4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31432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63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63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630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58</a:t>
            </a:r>
          </a:p>
        </p:txBody>
      </p:sp>
      <p:sp>
        <p:nvSpPr>
          <p:cNvPr id="6" name="texto-fiw5e5-5">
            <a:extLst>
              <a:ext uri="{FF2B5EF4-FFF2-40B4-BE49-F238E27FC236}">
                <a16:creationId xmlns:a16="http://schemas.microsoft.com/office/drawing/2014/main" id="{03381F47-995F-4AB0-863E-CEAAD09AA833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3429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objetos en el backend</a:t>
            </a:r>
          </a:p>
        </p:txBody>
      </p:sp>
      <p:sp>
        <p:nvSpPr>
          <p:cNvPr id="7" name="texto-fiw5e5-6">
            <a:extLst>
              <a:ext uri="{FF2B5EF4-FFF2-40B4-BE49-F238E27FC236}">
                <a16:creationId xmlns:a16="http://schemas.microsoft.com/office/drawing/2014/main" id="{8A80438D-2C2E-4E10-90BF-2FD0D3E712BA}"/>
              </a:ext>
            </a:extLst>
          </p:cNvPr>
          <p:cNvSpPr>
            <a:spLocks noGrp="1"/>
          </p:cNvSpPr>
          <p:nvPr/>
        </p:nvSpPr>
        <p:spPr>
          <a:xfrm>
            <a:off x="4476750" y="1952625"/>
            <a:ext cx="31432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63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63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630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  <p:sp>
        <p:nvSpPr>
          <p:cNvPr id="8" name="texto-fiw5e5-7">
            <a:extLst>
              <a:ext uri="{FF2B5EF4-FFF2-40B4-BE49-F238E27FC236}">
                <a16:creationId xmlns:a16="http://schemas.microsoft.com/office/drawing/2014/main" id="{7EA6ABFF-FEDE-43F7-B55A-152B48DAFE98}"/>
              </a:ext>
            </a:extLst>
          </p:cNvPr>
          <p:cNvSpPr>
            <a:spLocks noGrp="1"/>
          </p:cNvSpPr>
          <p:nvPr/>
        </p:nvSpPr>
        <p:spPr>
          <a:xfrm>
            <a:off x="4476750" y="3038475"/>
            <a:ext cx="3524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encantamientos definidos</a:t>
            </a:r>
          </a:p>
        </p:txBody>
      </p:sp>
      <p:sp>
        <p:nvSpPr>
          <p:cNvPr id="9" name="texto-fiw5e5-8">
            <a:extLst>
              <a:ext uri="{FF2B5EF4-FFF2-40B4-BE49-F238E27FC236}">
                <a16:creationId xmlns:a16="http://schemas.microsoft.com/office/drawing/2014/main" id="{B75FD6F8-4A5D-4E8A-875C-C171BC309AC8}"/>
              </a:ext>
            </a:extLst>
          </p:cNvPr>
          <p:cNvSpPr>
            <a:spLocks noGrp="1"/>
          </p:cNvSpPr>
          <p:nvPr/>
        </p:nvSpPr>
        <p:spPr>
          <a:xfrm>
            <a:off x="8420100" y="1952625"/>
            <a:ext cx="31432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6300" b="1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6300" b="1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pPr>
            <a:r>
              <a:rPr sz="6300" b="1">
                <a:solidFill>
                  <a:srgbClr val="A76637"/>
                </a:solidFill>
                <a:latin typeface="Calibri"/>
                <a:ea typeface="Calibri"/>
                <a:cs typeface="Calibri"/>
              </a:rPr>
              <a:t>1–8</a:t>
            </a:r>
          </a:p>
        </p:txBody>
      </p:sp>
      <p:sp>
        <p:nvSpPr>
          <p:cNvPr id="10" name="texto-fiw5e5-9">
            <a:extLst>
              <a:ext uri="{FF2B5EF4-FFF2-40B4-BE49-F238E27FC236}">
                <a16:creationId xmlns:a16="http://schemas.microsoft.com/office/drawing/2014/main" id="{851A83DA-939B-4880-8D93-DCD290B5A360}"/>
              </a:ext>
            </a:extLst>
          </p:cNvPr>
          <p:cNvSpPr>
            <a:spLocks noGrp="1"/>
          </p:cNvSpPr>
          <p:nvPr/>
        </p:nvSpPr>
        <p:spPr>
          <a:xfrm>
            <a:off x="8420100" y="3038475"/>
            <a:ext cx="333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encantamientos por envío</a:t>
            </a:r>
          </a:p>
        </p:txBody>
      </p:sp>
      <p:sp>
        <p:nvSpPr>
          <p:cNvPr id="11" name="texto-fiw5e5-10">
            <a:extLst>
              <a:ext uri="{FF2B5EF4-FFF2-40B4-BE49-F238E27FC236}">
                <a16:creationId xmlns:a16="http://schemas.microsoft.com/office/drawing/2014/main" id="{8BBA2902-2552-4B8C-9F70-100800F29070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0382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2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Niveles dentro del máximo permitido, sin duplicados y con tipos estrictos.</a:t>
            </a:r>
          </a:p>
        </p:txBody>
      </p:sp>
      <p:sp>
        <p:nvSpPr>
          <p:cNvPr id="12" name="texto-fiw5e5-11">
            <a:extLst>
              <a:ext uri="{FF2B5EF4-FFF2-40B4-BE49-F238E27FC236}">
                <a16:creationId xmlns:a16="http://schemas.microsoft.com/office/drawing/2014/main" id="{937F216F-03DF-4FF0-B2B1-DE2D208F0AFC}"/>
              </a:ext>
            </a:extLst>
          </p:cNvPr>
          <p:cNvSpPr>
            <a:spLocks noGrp="1"/>
          </p:cNvSpPr>
          <p:nvPr/>
        </p:nvSpPr>
        <p:spPr>
          <a:xfrm>
            <a:off x="609600" y="4924425"/>
            <a:ext cx="1038225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1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Ejemplos de rechazo: Filo + Castigo, Fortuna + Toque de seda o Infinidad + Reparación.</a:t>
            </a:r>
          </a:p>
        </p:txBody>
      </p:sp>
    </p:spTree>
    <p:extLst>
      <p:ext uri="{BB962C8B-B14F-4D97-AF65-F5344CB8AC3E}">
        <p14:creationId xmlns:p14="http://schemas.microsoft.com/office/powerpoint/2010/main" val="1201911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o-hial5g-0">
            <a:extLst>
              <a:ext uri="{FF2B5EF4-FFF2-40B4-BE49-F238E27FC236}">
                <a16:creationId xmlns:a16="http://schemas.microsoft.com/office/drawing/2014/main" id="{2899220F-3320-4B53-9BF6-79AFB64931F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PLAN DE COMBINACIÓN</a:t>
            </a:r>
          </a:p>
        </p:txBody>
      </p:sp>
      <p:sp>
        <p:nvSpPr>
          <p:cNvPr id="2" name="texto-hial5g-1">
            <a:extLst>
              <a:ext uri="{FF2B5EF4-FFF2-40B4-BE49-F238E27FC236}">
                <a16:creationId xmlns:a16="http://schemas.microsoft.com/office/drawing/2014/main" id="{7AE2D946-67D0-43AA-BB37-FA1488E21DFD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Contrato de respuesta</a:t>
            </a:r>
          </a:p>
        </p:txBody>
      </p:sp>
      <p:sp>
        <p:nvSpPr>
          <p:cNvPr id="3" name="texto-hial5g-2">
            <a:extLst>
              <a:ext uri="{FF2B5EF4-FFF2-40B4-BE49-F238E27FC236}">
                <a16:creationId xmlns:a16="http://schemas.microsoft.com/office/drawing/2014/main" id="{450E0C63-8C79-469F-90B6-C5555B3ECC4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hial5g-3">
            <a:extLst>
              <a:ext uri="{FF2B5EF4-FFF2-40B4-BE49-F238E27FC236}">
                <a16:creationId xmlns:a16="http://schemas.microsoft.com/office/drawing/2014/main" id="{D6B9CE94-F2EE-410B-876B-F0DF13D1F66C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69F83E9-5C86-47CD-BE2B-15B459A8CD50}"/>
              </a:ext>
            </a:extLst>
          </p:cNvPr>
          <p:cNvGraphicFramePr/>
          <p:nvPr/>
        </p:nvGraphicFramePr>
        <p:xfrm>
          <a:off x="609600" y="2066925"/>
          <a:ext cx="10972800" cy="3276600"/>
        </p:xfrm>
        <a:graphic>
          <a:graphicData uri="http://schemas.openxmlformats.org/drawingml/2006/table">
            <a:tbl>
              <a:tblPr/>
              <a:tblGrid>
                <a:gridCol w="4048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4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191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Campo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Contenido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resultado.pasos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Orden, elemento izquierdo, elemento derecho y coste.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coste_total_niveles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Suma de los costes de los pasos.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advertencias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Límite de 40 niveles y carácter estimado del cálculo.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o-hial5g-4">
            <a:extLst>
              <a:ext uri="{FF2B5EF4-FFF2-40B4-BE49-F238E27FC236}">
                <a16:creationId xmlns:a16="http://schemas.microsoft.com/office/drawing/2014/main" id="{9EEDBF24-0416-400F-88F3-9A6214A45B8F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El backend comprueba referencias y coherencia del plan.</a:t>
            </a:r>
          </a:p>
          <a:p>
            <a:pPr>
              <a:defRPr sz="1950" b="0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Los costes exactos y el mínimo global siguen sin verificación.</a:t>
            </a:r>
          </a:p>
        </p:txBody>
      </p:sp>
    </p:spTree>
    <p:extLst>
      <p:ext uri="{BB962C8B-B14F-4D97-AF65-F5344CB8AC3E}">
        <p14:creationId xmlns:p14="http://schemas.microsoft.com/office/powerpoint/2010/main" val="90761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165F40-8CF9-4F62-A9D0-9069B7672D80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524750" y="3309938"/>
            <a:ext cx="1200150" cy="0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CF93309-9D13-4582-952E-A3D8F3B1FE8F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467100" y="3309938"/>
            <a:ext cx="1200150" cy="0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sp>
        <p:nvSpPr>
          <p:cNvPr id="16" name="texto-jy92u0-0">
            <a:extLst>
              <a:ext uri="{FF2B5EF4-FFF2-40B4-BE49-F238E27FC236}">
                <a16:creationId xmlns:a16="http://schemas.microsoft.com/office/drawing/2014/main" id="{66AE74E7-5F2A-43B2-9256-F08E949A748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DIAGRAMA DE CONTEXTO</a:t>
            </a:r>
          </a:p>
        </p:txBody>
      </p:sp>
      <p:sp>
        <p:nvSpPr>
          <p:cNvPr id="2" name="texto-jy92u0-1">
            <a:extLst>
              <a:ext uri="{FF2B5EF4-FFF2-40B4-BE49-F238E27FC236}">
                <a16:creationId xmlns:a16="http://schemas.microsoft.com/office/drawing/2014/main" id="{30401917-1378-43A9-84B4-BABD5A4ED745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 dirty="0" err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Arquitectur</a:t>
            </a:r>
            <a:r>
              <a:rPr lang="es-ES" sz="3300" b="1" dirty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a</a:t>
            </a:r>
            <a:endParaRPr sz="3300" b="1" dirty="0">
              <a:solidFill>
                <a:srgbClr val="29233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texto-jy92u0-2">
            <a:extLst>
              <a:ext uri="{FF2B5EF4-FFF2-40B4-BE49-F238E27FC236}">
                <a16:creationId xmlns:a16="http://schemas.microsoft.com/office/drawing/2014/main" id="{96031422-4B12-4426-B8CA-2A5B596F0DC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jy92u0-3">
            <a:extLst>
              <a:ext uri="{FF2B5EF4-FFF2-40B4-BE49-F238E27FC236}">
                <a16:creationId xmlns:a16="http://schemas.microsoft.com/office/drawing/2014/main" id="{54954CC5-1D5B-4134-9E9A-E134C2FFF21D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EDF9EF-604A-4D87-BA22-D7732D8126CF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2857500" cy="1190625"/>
          </a:xfrm>
          <a:prstGeom prst="rect">
            <a:avLst/>
          </a:prstGeom>
          <a:solidFill>
            <a:srgbClr val="E9DFEF"/>
          </a:solidFill>
          <a:ln w="19050">
            <a:solidFill>
              <a:srgbClr val="634294"/>
            </a:solidFill>
          </a:ln>
        </p:spPr>
        <p:txBody>
          <a:bodyPr lIns="142875" tIns="142875" rIns="142875" bIns="142875" anchor="ctr"/>
          <a:lstStyle>
            <a:def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Navegador</a:t>
            </a:r>
          </a:p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Vue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0229A9-CBCD-424A-9D2C-CB090F3BC0CC}"/>
              </a:ext>
            </a:extLst>
          </p:cNvPr>
          <p:cNvSpPr>
            <a:spLocks noGrp="1"/>
          </p:cNvSpPr>
          <p:nvPr/>
        </p:nvSpPr>
        <p:spPr>
          <a:xfrm>
            <a:off x="4667250" y="2714625"/>
            <a:ext cx="2857500" cy="1190625"/>
          </a:xfrm>
          <a:prstGeom prst="rect">
            <a:avLst/>
          </a:prstGeom>
          <a:solidFill>
            <a:srgbClr val="E9DFEF"/>
          </a:solidFill>
          <a:ln w="19050">
            <a:solidFill>
              <a:srgbClr val="634294"/>
            </a:solidFill>
          </a:ln>
        </p:spPr>
        <p:txBody>
          <a:bodyPr lIns="142875" tIns="142875" rIns="142875" bIns="142875" anchor="ctr"/>
          <a:lstStyle>
            <a:def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Backend</a:t>
            </a:r>
          </a:p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FastAPI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9B708A-B891-49B5-A79E-4D1B02C79AA1}"/>
              </a:ext>
            </a:extLst>
          </p:cNvPr>
          <p:cNvSpPr>
            <a:spLocks noGrp="1"/>
          </p:cNvSpPr>
          <p:nvPr/>
        </p:nvSpPr>
        <p:spPr>
          <a:xfrm>
            <a:off x="8724900" y="2714625"/>
            <a:ext cx="2857500" cy="1190625"/>
          </a:xfrm>
          <a:prstGeom prst="rect">
            <a:avLst/>
          </a:prstGeom>
          <a:solidFill>
            <a:srgbClr val="E9DFEF"/>
          </a:solidFill>
          <a:ln w="19050">
            <a:solidFill>
              <a:srgbClr val="634294"/>
            </a:solidFill>
          </a:ln>
        </p:spPr>
        <p:txBody>
          <a:bodyPr lIns="142875" tIns="142875" rIns="142875" bIns="142875" anchor="ctr"/>
          <a:lstStyle>
            <a:def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API externa</a:t>
            </a:r>
          </a:p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OpenRouter</a:t>
            </a:r>
          </a:p>
        </p:txBody>
      </p:sp>
      <p:sp>
        <p:nvSpPr>
          <p:cNvPr id="10" name="texto-jy92u0-9">
            <a:extLst>
              <a:ext uri="{FF2B5EF4-FFF2-40B4-BE49-F238E27FC236}">
                <a16:creationId xmlns:a16="http://schemas.microsoft.com/office/drawing/2014/main" id="{703BC29F-368C-4948-84A6-8F3577EBF4D6}"/>
              </a:ext>
            </a:extLst>
          </p:cNvPr>
          <p:cNvSpPr>
            <a:spLocks noGrp="1"/>
          </p:cNvSpPr>
          <p:nvPr/>
        </p:nvSpPr>
        <p:spPr>
          <a:xfrm>
            <a:off x="3371850" y="2209800"/>
            <a:ext cx="2000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7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JSON / HTTP</a:t>
            </a:r>
          </a:p>
        </p:txBody>
      </p:sp>
      <p:sp>
        <p:nvSpPr>
          <p:cNvPr id="11" name="texto-jy92u0-10">
            <a:extLst>
              <a:ext uri="{FF2B5EF4-FFF2-40B4-BE49-F238E27FC236}">
                <a16:creationId xmlns:a16="http://schemas.microsoft.com/office/drawing/2014/main" id="{617DC8A1-D061-4D91-9BDD-0362730DA316}"/>
              </a:ext>
            </a:extLst>
          </p:cNvPr>
          <p:cNvSpPr>
            <a:spLocks noGrp="1"/>
          </p:cNvSpPr>
          <p:nvPr/>
        </p:nvSpPr>
        <p:spPr>
          <a:xfrm>
            <a:off x="7810500" y="2209800"/>
            <a:ext cx="3714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72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HTTPS / clave privada</a:t>
            </a:r>
          </a:p>
        </p:txBody>
      </p:sp>
      <p:sp>
        <p:nvSpPr>
          <p:cNvPr id="12" name="texto-jy92u0-11">
            <a:extLst>
              <a:ext uri="{FF2B5EF4-FFF2-40B4-BE49-F238E27FC236}">
                <a16:creationId xmlns:a16="http://schemas.microsoft.com/office/drawing/2014/main" id="{5BAD102B-3376-4CAD-B0B0-0194B0EF9D1D}"/>
              </a:ext>
            </a:extLst>
          </p:cNvPr>
          <p:cNvSpPr>
            <a:spLocks noGrp="1"/>
          </p:cNvSpPr>
          <p:nvPr/>
        </p:nvSpPr>
        <p:spPr>
          <a:xfrm>
            <a:off x="609600" y="4286250"/>
            <a:ext cx="28575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Formulario y resultado</a:t>
            </a:r>
          </a:p>
        </p:txBody>
      </p:sp>
      <p:sp>
        <p:nvSpPr>
          <p:cNvPr id="13" name="texto-jy92u0-12">
            <a:extLst>
              <a:ext uri="{FF2B5EF4-FFF2-40B4-BE49-F238E27FC236}">
                <a16:creationId xmlns:a16="http://schemas.microsoft.com/office/drawing/2014/main" id="{D378E5CA-FE43-4DBC-A039-CC374453AAED}"/>
              </a:ext>
            </a:extLst>
          </p:cNvPr>
          <p:cNvSpPr>
            <a:spLocks noGrp="1"/>
          </p:cNvSpPr>
          <p:nvPr/>
        </p:nvSpPr>
        <p:spPr>
          <a:xfrm>
            <a:off x="4667250" y="4286250"/>
            <a:ext cx="28575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Valida y transforma</a:t>
            </a:r>
          </a:p>
        </p:txBody>
      </p:sp>
      <p:sp>
        <p:nvSpPr>
          <p:cNvPr id="14" name="texto-jy92u0-13">
            <a:extLst>
              <a:ext uri="{FF2B5EF4-FFF2-40B4-BE49-F238E27FC236}">
                <a16:creationId xmlns:a16="http://schemas.microsoft.com/office/drawing/2014/main" id="{80CC11A1-F9DB-4B3A-9AB5-6DA394BE1705}"/>
              </a:ext>
            </a:extLst>
          </p:cNvPr>
          <p:cNvSpPr>
            <a:spLocks noGrp="1"/>
          </p:cNvSpPr>
          <p:nvPr/>
        </p:nvSpPr>
        <p:spPr>
          <a:xfrm>
            <a:off x="8724900" y="4286250"/>
            <a:ext cx="28575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Genera la propuesta</a:t>
            </a:r>
          </a:p>
        </p:txBody>
      </p:sp>
      <p:sp>
        <p:nvSpPr>
          <p:cNvPr id="15" name="texto-jy92u0-14">
            <a:extLst>
              <a:ext uri="{FF2B5EF4-FFF2-40B4-BE49-F238E27FC236}">
                <a16:creationId xmlns:a16="http://schemas.microsoft.com/office/drawing/2014/main" id="{6AB8D4C2-0FD9-4228-8316-9AEDD7184C26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858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1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El navegador recibe el contrato público de FastAPI, no la respuesta completa del proveedor.</a:t>
            </a:r>
          </a:p>
        </p:txBody>
      </p:sp>
    </p:spTree>
    <p:extLst>
      <p:ext uri="{BB962C8B-B14F-4D97-AF65-F5344CB8AC3E}">
        <p14:creationId xmlns:p14="http://schemas.microsoft.com/office/powerpoint/2010/main" val="201182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o-4vb6sj-0">
            <a:extLst>
              <a:ext uri="{FF2B5EF4-FFF2-40B4-BE49-F238E27FC236}">
                <a16:creationId xmlns:a16="http://schemas.microsoft.com/office/drawing/2014/main" id="{5A77AE75-2F1B-4941-B6E4-F6A06A4A964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DIAGRAMA DE SECUENCIA</a:t>
            </a:r>
          </a:p>
        </p:txBody>
      </p:sp>
      <p:sp>
        <p:nvSpPr>
          <p:cNvPr id="2" name="texto-4vb6sj-1">
            <a:extLst>
              <a:ext uri="{FF2B5EF4-FFF2-40B4-BE49-F238E27FC236}">
                <a16:creationId xmlns:a16="http://schemas.microsoft.com/office/drawing/2014/main" id="{43A45384-B6BB-4384-A91A-6626799326D4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Secuencia de una petición válida</a:t>
            </a:r>
          </a:p>
        </p:txBody>
      </p:sp>
      <p:sp>
        <p:nvSpPr>
          <p:cNvPr id="3" name="texto-4vb6sj-2">
            <a:extLst>
              <a:ext uri="{FF2B5EF4-FFF2-40B4-BE49-F238E27FC236}">
                <a16:creationId xmlns:a16="http://schemas.microsoft.com/office/drawing/2014/main" id="{8270A483-3B76-41A2-A112-419D9F44A1B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4vb6sj-3">
            <a:extLst>
              <a:ext uri="{FF2B5EF4-FFF2-40B4-BE49-F238E27FC236}">
                <a16:creationId xmlns:a16="http://schemas.microsoft.com/office/drawing/2014/main" id="{74C537A2-981E-42AD-9631-A906B858C13A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5" name="texto-4vb6sj-4">
            <a:extLst>
              <a:ext uri="{FF2B5EF4-FFF2-40B4-BE49-F238E27FC236}">
                <a16:creationId xmlns:a16="http://schemas.microsoft.com/office/drawing/2014/main" id="{F69A8864-28D6-4460-8266-37642832A9B1}"/>
              </a:ext>
            </a:extLst>
          </p:cNvPr>
          <p:cNvSpPr>
            <a:spLocks noGrp="1"/>
          </p:cNvSpPr>
          <p:nvPr/>
        </p:nvSpPr>
        <p:spPr>
          <a:xfrm>
            <a:off x="523875" y="1809750"/>
            <a:ext cx="2000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Usuario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90C2146-129A-433F-A780-612A14A84D91}"/>
              </a:ext>
            </a:extLst>
          </p:cNvPr>
          <p:cNvCxnSpPr/>
          <p:nvPr/>
        </p:nvCxnSpPr>
        <p:spPr>
          <a:xfrm>
            <a:off x="1524000" y="2324100"/>
            <a:ext cx="0" cy="3524250"/>
          </a:xfrm>
          <a:prstGeom prst="straightConnector1">
            <a:avLst/>
          </a:prstGeom>
          <a:ln w="19050">
            <a:solidFill>
              <a:srgbClr val="634294"/>
            </a:solidFill>
          </a:ln>
        </p:spPr>
      </p:cxnSp>
      <p:sp>
        <p:nvSpPr>
          <p:cNvPr id="7" name="texto-4vb6sj-6">
            <a:extLst>
              <a:ext uri="{FF2B5EF4-FFF2-40B4-BE49-F238E27FC236}">
                <a16:creationId xmlns:a16="http://schemas.microsoft.com/office/drawing/2014/main" id="{30A2F3EB-8AE9-41B3-A962-45CBA10972A4}"/>
              </a:ext>
            </a:extLst>
          </p:cNvPr>
          <p:cNvSpPr>
            <a:spLocks noGrp="1"/>
          </p:cNvSpPr>
          <p:nvPr/>
        </p:nvSpPr>
        <p:spPr>
          <a:xfrm>
            <a:off x="3429000" y="1809750"/>
            <a:ext cx="2000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AAE1FC-1101-4D42-9A76-DD62808D6B86}"/>
              </a:ext>
            </a:extLst>
          </p:cNvPr>
          <p:cNvCxnSpPr/>
          <p:nvPr/>
        </p:nvCxnSpPr>
        <p:spPr>
          <a:xfrm>
            <a:off x="4429125" y="2324100"/>
            <a:ext cx="0" cy="3524250"/>
          </a:xfrm>
          <a:prstGeom prst="straightConnector1">
            <a:avLst/>
          </a:prstGeom>
          <a:ln w="19050">
            <a:solidFill>
              <a:srgbClr val="634294"/>
            </a:solidFill>
          </a:ln>
        </p:spPr>
      </p:cxnSp>
      <p:sp>
        <p:nvSpPr>
          <p:cNvPr id="9" name="texto-4vb6sj-8">
            <a:extLst>
              <a:ext uri="{FF2B5EF4-FFF2-40B4-BE49-F238E27FC236}">
                <a16:creationId xmlns:a16="http://schemas.microsoft.com/office/drawing/2014/main" id="{279C16F9-8D0D-4FC3-B572-F1581A1A9E8B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2000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FastAPI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879393C-2E71-43C6-B524-95619B5B0D35}"/>
              </a:ext>
            </a:extLst>
          </p:cNvPr>
          <p:cNvCxnSpPr/>
          <p:nvPr/>
        </p:nvCxnSpPr>
        <p:spPr>
          <a:xfrm>
            <a:off x="7572375" y="2324100"/>
            <a:ext cx="0" cy="3524250"/>
          </a:xfrm>
          <a:prstGeom prst="straightConnector1">
            <a:avLst/>
          </a:prstGeom>
          <a:ln w="19050">
            <a:solidFill>
              <a:srgbClr val="634294"/>
            </a:solidFill>
          </a:ln>
        </p:spPr>
      </p:cxnSp>
      <p:sp>
        <p:nvSpPr>
          <p:cNvPr id="11" name="texto-4vb6sj-10">
            <a:extLst>
              <a:ext uri="{FF2B5EF4-FFF2-40B4-BE49-F238E27FC236}">
                <a16:creationId xmlns:a16="http://schemas.microsoft.com/office/drawing/2014/main" id="{B052B68B-938C-4F46-BDC2-59002CB7CB56}"/>
              </a:ext>
            </a:extLst>
          </p:cNvPr>
          <p:cNvSpPr>
            <a:spLocks noGrp="1"/>
          </p:cNvSpPr>
          <p:nvPr/>
        </p:nvSpPr>
        <p:spPr>
          <a:xfrm>
            <a:off x="9620250" y="1809750"/>
            <a:ext cx="2000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OpenRouter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C9BCEA8-EB0F-448F-A03C-5C14274F4F18}"/>
              </a:ext>
            </a:extLst>
          </p:cNvPr>
          <p:cNvCxnSpPr/>
          <p:nvPr/>
        </p:nvCxnSpPr>
        <p:spPr>
          <a:xfrm>
            <a:off x="10620375" y="2324100"/>
            <a:ext cx="0" cy="3524250"/>
          </a:xfrm>
          <a:prstGeom prst="straightConnector1">
            <a:avLst/>
          </a:prstGeom>
          <a:ln w="19050">
            <a:solidFill>
              <a:srgbClr val="634294"/>
            </a:solidFill>
          </a:ln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C501E2A-2CD9-4959-A456-C31195FCB214}"/>
              </a:ext>
            </a:extLst>
          </p:cNvPr>
          <p:cNvCxnSpPr/>
          <p:nvPr/>
        </p:nvCxnSpPr>
        <p:spPr>
          <a:xfrm>
            <a:off x="1524000" y="2714625"/>
            <a:ext cx="2905125" cy="0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sp>
        <p:nvSpPr>
          <p:cNvPr id="14" name="texto-4vb6sj-13">
            <a:extLst>
              <a:ext uri="{FF2B5EF4-FFF2-40B4-BE49-F238E27FC236}">
                <a16:creationId xmlns:a16="http://schemas.microsoft.com/office/drawing/2014/main" id="{63AE896F-A90E-4B60-9300-68D58BB1CC91}"/>
              </a:ext>
            </a:extLst>
          </p:cNvPr>
          <p:cNvSpPr>
            <a:spLocks noGrp="1"/>
          </p:cNvSpPr>
          <p:nvPr/>
        </p:nvSpPr>
        <p:spPr>
          <a:xfrm>
            <a:off x="1619250" y="23907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Enviar formulario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BBF82F-1CB8-4CC2-92C8-6DD9B0E39ED5}"/>
              </a:ext>
            </a:extLst>
          </p:cNvPr>
          <p:cNvCxnSpPr/>
          <p:nvPr/>
        </p:nvCxnSpPr>
        <p:spPr>
          <a:xfrm>
            <a:off x="4429125" y="3333750"/>
            <a:ext cx="3143250" cy="0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sp>
        <p:nvSpPr>
          <p:cNvPr id="16" name="texto-4vb6sj-15">
            <a:extLst>
              <a:ext uri="{FF2B5EF4-FFF2-40B4-BE49-F238E27FC236}">
                <a16:creationId xmlns:a16="http://schemas.microsoft.com/office/drawing/2014/main" id="{3F98F828-3B7A-4742-8753-B5236D09DE12}"/>
              </a:ext>
            </a:extLst>
          </p:cNvPr>
          <p:cNvSpPr>
            <a:spLocks noGrp="1"/>
          </p:cNvSpPr>
          <p:nvPr/>
        </p:nvSpPr>
        <p:spPr>
          <a:xfrm>
            <a:off x="4524375" y="3009900"/>
            <a:ext cx="2952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POST /api/procesar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D039CB1-DE1A-4CD1-A07C-F20D3C7E22FA}"/>
              </a:ext>
            </a:extLst>
          </p:cNvPr>
          <p:cNvCxnSpPr/>
          <p:nvPr/>
        </p:nvCxnSpPr>
        <p:spPr>
          <a:xfrm>
            <a:off x="7572375" y="4095750"/>
            <a:ext cx="3048000" cy="0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sp>
        <p:nvSpPr>
          <p:cNvPr id="18" name="texto-4vb6sj-17">
            <a:extLst>
              <a:ext uri="{FF2B5EF4-FFF2-40B4-BE49-F238E27FC236}">
                <a16:creationId xmlns:a16="http://schemas.microsoft.com/office/drawing/2014/main" id="{9229BEFD-1093-4B54-924E-85FBAFE4A301}"/>
              </a:ext>
            </a:extLst>
          </p:cNvPr>
          <p:cNvSpPr>
            <a:spLocks noGrp="1"/>
          </p:cNvSpPr>
          <p:nvPr/>
        </p:nvSpPr>
        <p:spPr>
          <a:xfrm>
            <a:off x="7667625" y="377190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Una consulta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1DF62D0-60E6-48A6-8CAC-36A9B30E63E1}"/>
              </a:ext>
            </a:extLst>
          </p:cNvPr>
          <p:cNvCxnSpPr/>
          <p:nvPr/>
        </p:nvCxnSpPr>
        <p:spPr>
          <a:xfrm>
            <a:off x="7572375" y="4762500"/>
            <a:ext cx="3048000" cy="0"/>
          </a:xfrm>
          <a:prstGeom prst="straightConnector1">
            <a:avLst/>
          </a:prstGeom>
          <a:ln w="19050">
            <a:solidFill>
              <a:srgbClr val="634294"/>
            </a:solidFill>
            <a:headEnd type="arrow" w="med" len="med"/>
          </a:ln>
        </p:spPr>
      </p:cxnSp>
      <p:sp>
        <p:nvSpPr>
          <p:cNvPr id="20" name="texto-4vb6sj-19">
            <a:extLst>
              <a:ext uri="{FF2B5EF4-FFF2-40B4-BE49-F238E27FC236}">
                <a16:creationId xmlns:a16="http://schemas.microsoft.com/office/drawing/2014/main" id="{91709878-7E4F-4E8F-90E3-6BE0B00E7362}"/>
              </a:ext>
            </a:extLst>
          </p:cNvPr>
          <p:cNvSpPr>
            <a:spLocks noGrp="1"/>
          </p:cNvSpPr>
          <p:nvPr/>
        </p:nvSpPr>
        <p:spPr>
          <a:xfrm>
            <a:off x="7667625" y="443865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Plan generado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933F4C-C4BC-433B-AFF2-4730BC79DCBB}"/>
              </a:ext>
            </a:extLst>
          </p:cNvPr>
          <p:cNvCxnSpPr/>
          <p:nvPr/>
        </p:nvCxnSpPr>
        <p:spPr>
          <a:xfrm>
            <a:off x="4429125" y="5381625"/>
            <a:ext cx="3143250" cy="0"/>
          </a:xfrm>
          <a:prstGeom prst="straightConnector1">
            <a:avLst/>
          </a:prstGeom>
          <a:ln w="19050">
            <a:solidFill>
              <a:srgbClr val="634294"/>
            </a:solidFill>
            <a:headEnd type="arrow" w="med" len="med"/>
          </a:ln>
        </p:spPr>
      </p:cxnSp>
      <p:sp>
        <p:nvSpPr>
          <p:cNvPr id="22" name="texto-4vb6sj-21">
            <a:extLst>
              <a:ext uri="{FF2B5EF4-FFF2-40B4-BE49-F238E27FC236}">
                <a16:creationId xmlns:a16="http://schemas.microsoft.com/office/drawing/2014/main" id="{226C19E4-A934-4649-AA4A-ED0427DB9BAD}"/>
              </a:ext>
            </a:extLst>
          </p:cNvPr>
          <p:cNvSpPr>
            <a:spLocks noGrp="1"/>
          </p:cNvSpPr>
          <p:nvPr/>
        </p:nvSpPr>
        <p:spPr>
          <a:xfrm>
            <a:off x="4524375" y="5057775"/>
            <a:ext cx="2952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200 / JSON validado</a:t>
            </a:r>
          </a:p>
        </p:txBody>
      </p:sp>
      <p:sp>
        <p:nvSpPr>
          <p:cNvPr id="23" name="texto-4vb6sj-22">
            <a:extLst>
              <a:ext uri="{FF2B5EF4-FFF2-40B4-BE49-F238E27FC236}">
                <a16:creationId xmlns:a16="http://schemas.microsoft.com/office/drawing/2014/main" id="{56713F4B-96EB-4F3F-93F0-1A6582EE6CD9}"/>
              </a:ext>
            </a:extLst>
          </p:cNvPr>
          <p:cNvSpPr>
            <a:spLocks noGrp="1"/>
          </p:cNvSpPr>
          <p:nvPr/>
        </p:nvSpPr>
        <p:spPr>
          <a:xfrm>
            <a:off x="7753350" y="3486150"/>
            <a:ext cx="24765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1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76637"/>
                </a:solidFill>
                <a:latin typeface="Calibri"/>
                <a:ea typeface="Calibri"/>
                <a:cs typeface="Calibri"/>
              </a:rPr>
              <a:t>Validar entrada</a:t>
            </a:r>
          </a:p>
        </p:txBody>
      </p:sp>
      <p:sp>
        <p:nvSpPr>
          <p:cNvPr id="24" name="texto-4vb6sj-23">
            <a:extLst>
              <a:ext uri="{FF2B5EF4-FFF2-40B4-BE49-F238E27FC236}">
                <a16:creationId xmlns:a16="http://schemas.microsoft.com/office/drawing/2014/main" id="{ACDEAA47-23CA-4FA4-BBF4-47CADDAF7F91}"/>
              </a:ext>
            </a:extLst>
          </p:cNvPr>
          <p:cNvSpPr>
            <a:spLocks noGrp="1"/>
          </p:cNvSpPr>
          <p:nvPr/>
        </p:nvSpPr>
        <p:spPr>
          <a:xfrm>
            <a:off x="7753350" y="4933950"/>
            <a:ext cx="22860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1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76637"/>
                </a:solidFill>
                <a:latin typeface="Calibri"/>
                <a:ea typeface="Calibri"/>
                <a:cs typeface="Calibri"/>
              </a:rPr>
              <a:t>Validar plan</a:t>
            </a:r>
          </a:p>
        </p:txBody>
      </p:sp>
      <p:sp>
        <p:nvSpPr>
          <p:cNvPr id="25" name="texto-4vb6sj-24">
            <a:extLst>
              <a:ext uri="{FF2B5EF4-FFF2-40B4-BE49-F238E27FC236}">
                <a16:creationId xmlns:a16="http://schemas.microsoft.com/office/drawing/2014/main" id="{F6919FEE-A2ED-4123-93E9-388CB8C345DF}"/>
              </a:ext>
            </a:extLst>
          </p:cNvPr>
          <p:cNvSpPr>
            <a:spLocks noGrp="1"/>
          </p:cNvSpPr>
          <p:nvPr/>
        </p:nvSpPr>
        <p:spPr>
          <a:xfrm>
            <a:off x="2714625" y="5905500"/>
            <a:ext cx="63341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Resultado en la misma pantalla</a:t>
            </a:r>
          </a:p>
        </p:txBody>
      </p:sp>
    </p:spTree>
    <p:extLst>
      <p:ext uri="{BB962C8B-B14F-4D97-AF65-F5344CB8AC3E}">
        <p14:creationId xmlns:p14="http://schemas.microsoft.com/office/powerpoint/2010/main" val="1467268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o-3njqlr-0">
            <a:extLst>
              <a:ext uri="{FF2B5EF4-FFF2-40B4-BE49-F238E27FC236}">
                <a16:creationId xmlns:a16="http://schemas.microsoft.com/office/drawing/2014/main" id="{83A6A615-40A4-4D6B-8FA8-C0A5B059A36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CONTRATO HTTP</a:t>
            </a:r>
          </a:p>
        </p:txBody>
      </p:sp>
      <p:sp>
        <p:nvSpPr>
          <p:cNvPr id="2" name="texto-3njqlr-1">
            <a:extLst>
              <a:ext uri="{FF2B5EF4-FFF2-40B4-BE49-F238E27FC236}">
                <a16:creationId xmlns:a16="http://schemas.microsoft.com/office/drawing/2014/main" id="{11986B2F-3341-4AB6-AC18-438BA1A15D93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Errores y recuperación</a:t>
            </a:r>
          </a:p>
        </p:txBody>
      </p:sp>
      <p:sp>
        <p:nvSpPr>
          <p:cNvPr id="3" name="texto-3njqlr-2">
            <a:extLst>
              <a:ext uri="{FF2B5EF4-FFF2-40B4-BE49-F238E27FC236}">
                <a16:creationId xmlns:a16="http://schemas.microsoft.com/office/drawing/2014/main" id="{A4642FD4-C448-48D1-AFB1-14E26595B711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3njqlr-3">
            <a:extLst>
              <a:ext uri="{FF2B5EF4-FFF2-40B4-BE49-F238E27FC236}">
                <a16:creationId xmlns:a16="http://schemas.microsoft.com/office/drawing/2014/main" id="{E672F503-B40B-49E1-9CC4-EF734A0C3592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C6C9C8-7881-4C96-ABC2-6BAA21CF3279}"/>
              </a:ext>
            </a:extLst>
          </p:cNvPr>
          <p:cNvGraphicFramePr/>
          <p:nvPr/>
        </p:nvGraphicFramePr>
        <p:xfrm>
          <a:off x="609600" y="2047875"/>
          <a:ext cx="10972800" cy="3429000"/>
        </p:xfrm>
        <a:graphic>
          <a:graphicData uri="http://schemas.openxmlformats.org/drawingml/2006/table">
            <a:tbl>
              <a:tblPr/>
              <a:tblGrid>
                <a:gridCol w="119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86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HTTP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Código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Situación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422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VALIDACION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Entrada inválida. No se consulta IA.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502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IA_NO_DISPONIBLE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Fallo externo o configuración incompleta.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502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RESPUESTA_INVALIDA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Contenido truncado o plan incoherente.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504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IA_TIMEOUT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El backend agota el plazo de espera.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o-3njqlr-4">
            <a:extLst>
              <a:ext uri="{FF2B5EF4-FFF2-40B4-BE49-F238E27FC236}">
                <a16:creationId xmlns:a16="http://schemas.microsoft.com/office/drawing/2014/main" id="{D376B696-3EC4-45FE-AFEA-D88215A42FE0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858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1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El frontend muestra el mensaje y permite otro envío manual.</a:t>
            </a:r>
          </a:p>
        </p:txBody>
      </p:sp>
    </p:spTree>
    <p:extLst>
      <p:ext uri="{BB962C8B-B14F-4D97-AF65-F5344CB8AC3E}">
        <p14:creationId xmlns:p14="http://schemas.microsoft.com/office/powerpoint/2010/main" val="231247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A80B94B-F7F7-4D29-9B6B-1021950D02C8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334250" y="3143250"/>
            <a:ext cx="1714500" cy="1619250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65D76A-B90B-4C8A-9181-1BB598951E64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7334250" y="2524125"/>
            <a:ext cx="1714500" cy="619125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46F6B5-9890-402F-955F-6AA15CF4A0FC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238500" y="3143250"/>
            <a:ext cx="1619250" cy="0"/>
          </a:xfrm>
          <a:prstGeom prst="straightConnector1">
            <a:avLst/>
          </a:prstGeom>
          <a:ln w="19050">
            <a:solidFill>
              <a:srgbClr val="634294"/>
            </a:solidFill>
            <a:tailEnd type="arrow" w="med" len="med"/>
          </a:ln>
        </p:spPr>
      </p:cxnSp>
      <p:sp>
        <p:nvSpPr>
          <p:cNvPr id="18" name="texto-rkqfhk-0">
            <a:extLst>
              <a:ext uri="{FF2B5EF4-FFF2-40B4-BE49-F238E27FC236}">
                <a16:creationId xmlns:a16="http://schemas.microsoft.com/office/drawing/2014/main" id="{3FDE8AB3-1205-4FD0-8EAC-0B9B04E2B960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INTERFAZ</a:t>
            </a:r>
          </a:p>
        </p:txBody>
      </p:sp>
      <p:sp>
        <p:nvSpPr>
          <p:cNvPr id="2" name="texto-rkqfhk-1">
            <a:extLst>
              <a:ext uri="{FF2B5EF4-FFF2-40B4-BE49-F238E27FC236}">
                <a16:creationId xmlns:a16="http://schemas.microsoft.com/office/drawing/2014/main" id="{249B80E8-3AE1-496D-9806-CC8DC4FE1665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Estados del frontend</a:t>
            </a:r>
          </a:p>
        </p:txBody>
      </p:sp>
      <p:sp>
        <p:nvSpPr>
          <p:cNvPr id="3" name="texto-rkqfhk-2">
            <a:extLst>
              <a:ext uri="{FF2B5EF4-FFF2-40B4-BE49-F238E27FC236}">
                <a16:creationId xmlns:a16="http://schemas.microsoft.com/office/drawing/2014/main" id="{8C511210-A797-4958-A72A-53A688B96493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rkqfhk-3">
            <a:extLst>
              <a:ext uri="{FF2B5EF4-FFF2-40B4-BE49-F238E27FC236}">
                <a16:creationId xmlns:a16="http://schemas.microsoft.com/office/drawing/2014/main" id="{25A578D3-450F-431C-98D5-0D285D832A38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3BB82C-88A4-4785-BA59-25554DA9D66A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2476500" cy="1047750"/>
          </a:xfrm>
          <a:prstGeom prst="rect">
            <a:avLst/>
          </a:prstGeom>
          <a:solidFill>
            <a:srgbClr val="E9DFEF"/>
          </a:solidFill>
          <a:ln w="19050">
            <a:solidFill>
              <a:srgbClr val="634294"/>
            </a:solidFill>
          </a:ln>
        </p:spPr>
        <p:txBody>
          <a:bodyPr lIns="142875" tIns="142875" rIns="142875" bIns="142875" anchor="ctr"/>
          <a:lstStyle>
            <a:def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entrada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F79754-FF40-414F-8B97-6687A83231F5}"/>
              </a:ext>
            </a:extLst>
          </p:cNvPr>
          <p:cNvSpPr>
            <a:spLocks noGrp="1"/>
          </p:cNvSpPr>
          <p:nvPr/>
        </p:nvSpPr>
        <p:spPr>
          <a:xfrm>
            <a:off x="4857750" y="2619375"/>
            <a:ext cx="2476500" cy="1047750"/>
          </a:xfrm>
          <a:prstGeom prst="rect">
            <a:avLst/>
          </a:prstGeom>
          <a:solidFill>
            <a:srgbClr val="E9DFEF"/>
          </a:solidFill>
          <a:ln w="19050">
            <a:solidFill>
              <a:srgbClr val="634294"/>
            </a:solidFill>
          </a:ln>
        </p:spPr>
        <p:txBody>
          <a:bodyPr lIns="142875" tIns="142875" rIns="142875" bIns="142875" anchor="ctr"/>
          <a:lstStyle>
            <a:def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espera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4F8709-B653-4107-BF93-015711F63265}"/>
              </a:ext>
            </a:extLst>
          </p:cNvPr>
          <p:cNvSpPr>
            <a:spLocks noGrp="1"/>
          </p:cNvSpPr>
          <p:nvPr/>
        </p:nvSpPr>
        <p:spPr>
          <a:xfrm>
            <a:off x="9048750" y="2000250"/>
            <a:ext cx="2476500" cy="1047750"/>
          </a:xfrm>
          <a:prstGeom prst="rect">
            <a:avLst/>
          </a:prstGeom>
          <a:solidFill>
            <a:srgbClr val="E9DFEF"/>
          </a:solidFill>
          <a:ln w="19050">
            <a:solidFill>
              <a:srgbClr val="634294"/>
            </a:solidFill>
          </a:ln>
        </p:spPr>
        <p:txBody>
          <a:bodyPr lIns="142875" tIns="142875" rIns="142875" bIns="142875" anchor="ctr"/>
          <a:lstStyle>
            <a:def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resultado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AF497D-4746-426B-9B4E-F47BDCC21E13}"/>
              </a:ext>
            </a:extLst>
          </p:cNvPr>
          <p:cNvSpPr>
            <a:spLocks noGrp="1"/>
          </p:cNvSpPr>
          <p:nvPr/>
        </p:nvSpPr>
        <p:spPr>
          <a:xfrm>
            <a:off x="9048750" y="4238625"/>
            <a:ext cx="2476500" cy="1047750"/>
          </a:xfrm>
          <a:prstGeom prst="rect">
            <a:avLst/>
          </a:prstGeom>
          <a:solidFill>
            <a:srgbClr val="E9DFEF"/>
          </a:solidFill>
          <a:ln w="19050">
            <a:solidFill>
              <a:srgbClr val="634294"/>
            </a:solidFill>
          </a:ln>
        </p:spPr>
        <p:txBody>
          <a:bodyPr lIns="142875" tIns="142875" rIns="142875" bIns="142875" anchor="ctr"/>
          <a:lstStyle>
            <a:def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2025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error</a:t>
            </a:r>
          </a:p>
        </p:txBody>
      </p:sp>
      <p:sp>
        <p:nvSpPr>
          <p:cNvPr id="12" name="texto-rkqfhk-11">
            <a:extLst>
              <a:ext uri="{FF2B5EF4-FFF2-40B4-BE49-F238E27FC236}">
                <a16:creationId xmlns:a16="http://schemas.microsoft.com/office/drawing/2014/main" id="{E4BA53C8-050E-4B0E-B012-9EC7EFB8CF77}"/>
              </a:ext>
            </a:extLst>
          </p:cNvPr>
          <p:cNvSpPr>
            <a:spLocks noGrp="1"/>
          </p:cNvSpPr>
          <p:nvPr/>
        </p:nvSpPr>
        <p:spPr>
          <a:xfrm>
            <a:off x="3371850" y="2628900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00" b="0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Enviar</a:t>
            </a:r>
          </a:p>
        </p:txBody>
      </p:sp>
      <p:sp>
        <p:nvSpPr>
          <p:cNvPr id="13" name="texto-rkqfhk-12">
            <a:extLst>
              <a:ext uri="{FF2B5EF4-FFF2-40B4-BE49-F238E27FC236}">
                <a16:creationId xmlns:a16="http://schemas.microsoft.com/office/drawing/2014/main" id="{4832D525-7D9D-4317-B137-026E74168E56}"/>
              </a:ext>
            </a:extLst>
          </p:cNvPr>
          <p:cNvSpPr>
            <a:spLocks noGrp="1"/>
          </p:cNvSpPr>
          <p:nvPr/>
        </p:nvSpPr>
        <p:spPr>
          <a:xfrm>
            <a:off x="7667625" y="2171700"/>
            <a:ext cx="1333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0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200 válido</a:t>
            </a:r>
          </a:p>
        </p:txBody>
      </p:sp>
      <p:sp>
        <p:nvSpPr>
          <p:cNvPr id="14" name="texto-rkqfhk-13">
            <a:extLst>
              <a:ext uri="{FF2B5EF4-FFF2-40B4-BE49-F238E27FC236}">
                <a16:creationId xmlns:a16="http://schemas.microsoft.com/office/drawing/2014/main" id="{17E583F0-4079-4049-A0B0-93960A5A20C6}"/>
              </a:ext>
            </a:extLst>
          </p:cNvPr>
          <p:cNvSpPr>
            <a:spLocks noGrp="1"/>
          </p:cNvSpPr>
          <p:nvPr/>
        </p:nvSpPr>
        <p:spPr>
          <a:xfrm>
            <a:off x="7667625" y="4219575"/>
            <a:ext cx="1333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650" b="0">
                <a:solidFill>
                  <a:srgbClr val="A76637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A76637"/>
                </a:solidFill>
                <a:latin typeface="Calibri"/>
                <a:ea typeface="Calibri"/>
                <a:cs typeface="Calibri"/>
              </a:rPr>
              <a:t>Fallo</a:t>
            </a:r>
          </a:p>
        </p:txBody>
      </p:sp>
      <p:sp>
        <p:nvSpPr>
          <p:cNvPr id="15" name="texto-rkqfhk-14">
            <a:extLst>
              <a:ext uri="{FF2B5EF4-FFF2-40B4-BE49-F238E27FC236}">
                <a16:creationId xmlns:a16="http://schemas.microsoft.com/office/drawing/2014/main" id="{29A6282F-0881-4A28-9626-4772D52CC408}"/>
              </a:ext>
            </a:extLst>
          </p:cNvPr>
          <p:cNvSpPr>
            <a:spLocks noGrp="1"/>
          </p:cNvSpPr>
          <p:nvPr/>
        </p:nvSpPr>
        <p:spPr>
          <a:xfrm>
            <a:off x="762000" y="4095750"/>
            <a:ext cx="271462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10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Formulario editable</a:t>
            </a:r>
          </a:p>
        </p:txBody>
      </p:sp>
      <p:sp>
        <p:nvSpPr>
          <p:cNvPr id="16" name="texto-rkqfhk-15">
            <a:extLst>
              <a:ext uri="{FF2B5EF4-FFF2-40B4-BE49-F238E27FC236}">
                <a16:creationId xmlns:a16="http://schemas.microsoft.com/office/drawing/2014/main" id="{0B9DFAA0-4F43-4BBF-AF20-7AEE1315F794}"/>
              </a:ext>
            </a:extLst>
          </p:cNvPr>
          <p:cNvSpPr>
            <a:spLocks noGrp="1"/>
          </p:cNvSpPr>
          <p:nvPr/>
        </p:nvSpPr>
        <p:spPr>
          <a:xfrm>
            <a:off x="4857750" y="4095750"/>
            <a:ext cx="3429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Botón desactivado</a:t>
            </a:r>
          </a:p>
          <a:p>
            <a:pPr>
              <a:defRPr sz="1950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Resultado anterior oculto</a:t>
            </a:r>
          </a:p>
        </p:txBody>
      </p:sp>
      <p:sp>
        <p:nvSpPr>
          <p:cNvPr id="17" name="texto-rkqfhk-16">
            <a:extLst>
              <a:ext uri="{FF2B5EF4-FFF2-40B4-BE49-F238E27FC236}">
                <a16:creationId xmlns:a16="http://schemas.microsoft.com/office/drawing/2014/main" id="{D23EDF8C-0DF7-4D60-92F2-2212B7CBC6F7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02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Tras el resultado o error, el usuario puede realizar una nueva consulta.</a:t>
            </a:r>
          </a:p>
        </p:txBody>
      </p:sp>
    </p:spTree>
    <p:extLst>
      <p:ext uri="{BB962C8B-B14F-4D97-AF65-F5344CB8AC3E}">
        <p14:creationId xmlns:p14="http://schemas.microsoft.com/office/powerpoint/2010/main" val="13068694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o-w8zovi-0">
            <a:extLst>
              <a:ext uri="{FF2B5EF4-FFF2-40B4-BE49-F238E27FC236}">
                <a16:creationId xmlns:a16="http://schemas.microsoft.com/office/drawing/2014/main" id="{DA9B59AC-5BB5-4D15-B2C3-1C7567A6681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CONFIGURACIÓN</a:t>
            </a:r>
          </a:p>
        </p:txBody>
      </p:sp>
      <p:sp>
        <p:nvSpPr>
          <p:cNvPr id="2" name="texto-w8zovi-1">
            <a:extLst>
              <a:ext uri="{FF2B5EF4-FFF2-40B4-BE49-F238E27FC236}">
                <a16:creationId xmlns:a16="http://schemas.microsoft.com/office/drawing/2014/main" id="{9C52602C-922A-4443-808A-E63C476DCDFD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Variables de entorno</a:t>
            </a:r>
          </a:p>
        </p:txBody>
      </p:sp>
      <p:sp>
        <p:nvSpPr>
          <p:cNvPr id="3" name="texto-w8zovi-2">
            <a:extLst>
              <a:ext uri="{FF2B5EF4-FFF2-40B4-BE49-F238E27FC236}">
                <a16:creationId xmlns:a16="http://schemas.microsoft.com/office/drawing/2014/main" id="{7C81E5FC-040F-4E99-836D-346F8C4236A9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w8zovi-3">
            <a:extLst>
              <a:ext uri="{FF2B5EF4-FFF2-40B4-BE49-F238E27FC236}">
                <a16:creationId xmlns:a16="http://schemas.microsoft.com/office/drawing/2014/main" id="{3500F259-0AB5-41E1-B123-D3234ADB6018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4097AC-7276-437B-8F0D-1F7B4851D0C9}"/>
              </a:ext>
            </a:extLst>
          </p:cNvPr>
          <p:cNvGraphicFramePr/>
          <p:nvPr/>
        </p:nvGraphicFramePr>
        <p:xfrm>
          <a:off x="609600" y="1866900"/>
          <a:ext cx="10972800" cy="4067175"/>
        </p:xfrm>
        <a:graphic>
          <a:graphicData uri="http://schemas.openxmlformats.org/drawingml/2006/table">
            <a:tbl>
              <a:tblPr/>
              <a:tblGrid>
                <a:gridCol w="4333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3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Variable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Uso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>
                      <a:solidFill>
                        <a:srgbClr val="F5F0E7"/>
                      </a:solidFill>
                      <a:prstDash val="soli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6342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OPENROUTER_API_KEY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Credencial privada, solo en backend.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OPENROUTER_MODEL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Identificador del modelo seleccionado.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AI_MODE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openrouter para IA real o mock para simulación.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AI_TIMEOUT_SECONDS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Plazo mayor que 0 y menor o igual a 60 s.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ALLOWED_ORIGINS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Orígenes de navegador autorizados por CORS.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VITE_API_BASE_URL</a:t>
                      </a:r>
                    </a:p>
                  </a:txBody>
                  <a:tcPr>
                    <a:lnL w="19050">
                      <a:solidFill>
                        <a:srgbClr val="F5F0E7"/>
                      </a:solidFill>
                      <a:prstDash val="soli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335"/>
                          </a:solidFill>
                          <a:latin typeface="Calibri"/>
                          <a:ea typeface="Calibri"/>
                          <a:cs typeface="Calibri"/>
                        </a:rPr>
                        <a:t>URL pública del backend para el frontend.</a:t>
                      </a:r>
                    </a:p>
                  </a:txBody>
                  <a:tcPr>
                    <a:lnL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>
                      <a:solidFill>
                        <a:srgbClr val="F5F0E7"/>
                      </a:solidFill>
                      <a:prstDash val="solid"/>
                    </a:lnR>
                    <a:lnT w="19050" cap="flat" cmpd="sng" algn="ctr">
                      <a:solidFill>
                        <a:srgbClr val="F5F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5F0E7"/>
                      </a:solidFill>
                      <a:prstDash val="solid"/>
                    </a:lnB>
                    <a:solidFill>
                      <a:srgbClr val="EEE7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3853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o-qcid6d-0">
            <a:extLst>
              <a:ext uri="{FF2B5EF4-FFF2-40B4-BE49-F238E27FC236}">
                <a16:creationId xmlns:a16="http://schemas.microsoft.com/office/drawing/2014/main" id="{8F8077B1-ACD8-4CB1-BF05-0160BF5B7F7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ENTORNO LOCAL</a:t>
            </a:r>
          </a:p>
        </p:txBody>
      </p:sp>
      <p:sp>
        <p:nvSpPr>
          <p:cNvPr id="2" name="texto-qcid6d-1">
            <a:extLst>
              <a:ext uri="{FF2B5EF4-FFF2-40B4-BE49-F238E27FC236}">
                <a16:creationId xmlns:a16="http://schemas.microsoft.com/office/drawing/2014/main" id="{01CF9F91-F6F6-43ED-AC22-9BDD544F7F98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Ejecución en desarrollo</a:t>
            </a:r>
          </a:p>
        </p:txBody>
      </p:sp>
      <p:sp>
        <p:nvSpPr>
          <p:cNvPr id="3" name="texto-qcid6d-2">
            <a:extLst>
              <a:ext uri="{FF2B5EF4-FFF2-40B4-BE49-F238E27FC236}">
                <a16:creationId xmlns:a16="http://schemas.microsoft.com/office/drawing/2014/main" id="{944DFE52-85AC-4482-8AE7-FF864943A823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qcid6d-3">
            <a:extLst>
              <a:ext uri="{FF2B5EF4-FFF2-40B4-BE49-F238E27FC236}">
                <a16:creationId xmlns:a16="http://schemas.microsoft.com/office/drawing/2014/main" id="{9BD31CAE-120E-45F4-B845-DB57CA5220BC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5" name="texto-qcid6d-4">
            <a:extLst>
              <a:ext uri="{FF2B5EF4-FFF2-40B4-BE49-F238E27FC236}">
                <a16:creationId xmlns:a16="http://schemas.microsoft.com/office/drawing/2014/main" id="{8049ADD5-F6DC-4CD1-8DB5-BD88161B0257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4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Backend</a:t>
            </a:r>
          </a:p>
        </p:txBody>
      </p:sp>
      <p:sp>
        <p:nvSpPr>
          <p:cNvPr id="6" name="texto-qcid6d-5">
            <a:extLst>
              <a:ext uri="{FF2B5EF4-FFF2-40B4-BE49-F238E27FC236}">
                <a16:creationId xmlns:a16="http://schemas.microsoft.com/office/drawing/2014/main" id="{62889039-BF37-4328-BF3F-A42D0EBAF024}"/>
              </a:ext>
            </a:extLst>
          </p:cNvPr>
          <p:cNvSpPr>
            <a:spLocks noGrp="1"/>
          </p:cNvSpPr>
          <p:nvPr/>
        </p:nvSpPr>
        <p:spPr>
          <a:xfrm>
            <a:off x="609600" y="2600325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Desde app1/backend</a:t>
            </a:r>
          </a:p>
        </p:txBody>
      </p:sp>
      <p:sp>
        <p:nvSpPr>
          <p:cNvPr id="7" name="texto-qcid6d-6">
            <a:extLst>
              <a:ext uri="{FF2B5EF4-FFF2-40B4-BE49-F238E27FC236}">
                <a16:creationId xmlns:a16="http://schemas.microsoft.com/office/drawing/2014/main" id="{77518E18-BC3A-4B32-8CAD-03C0F717AD08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476875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.\.venv\Scripts\python.exe</a:t>
            </a:r>
          </a:p>
          <a:p>
            <a:pPr>
              <a:defRPr sz="1875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-m uvicorn main:app --reload</a:t>
            </a:r>
          </a:p>
        </p:txBody>
      </p:sp>
      <p:sp>
        <p:nvSpPr>
          <p:cNvPr id="8" name="texto-qcid6d-7">
            <a:extLst>
              <a:ext uri="{FF2B5EF4-FFF2-40B4-BE49-F238E27FC236}">
                <a16:creationId xmlns:a16="http://schemas.microsoft.com/office/drawing/2014/main" id="{19900914-0FF8-4DD1-A46D-CD76F4C71021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52863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Ejecutar ambas líneas como un único comando.</a:t>
            </a:r>
          </a:p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Documentación en localhost:8000/docs</a:t>
            </a:r>
          </a:p>
        </p:txBody>
      </p:sp>
      <p:sp>
        <p:nvSpPr>
          <p:cNvPr id="9" name="texto-qcid6d-8">
            <a:extLst>
              <a:ext uri="{FF2B5EF4-FFF2-40B4-BE49-F238E27FC236}">
                <a16:creationId xmlns:a16="http://schemas.microsoft.com/office/drawing/2014/main" id="{EAFAB510-922E-4155-A9DB-86E4B1C737B8}"/>
              </a:ext>
            </a:extLst>
          </p:cNvPr>
          <p:cNvSpPr>
            <a:spLocks noGrp="1"/>
          </p:cNvSpPr>
          <p:nvPr/>
        </p:nvSpPr>
        <p:spPr>
          <a:xfrm>
            <a:off x="6762750" y="2047875"/>
            <a:ext cx="4572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400" b="1">
                <a:solidFill>
                  <a:srgbClr val="634294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634294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10" name="texto-qcid6d-9">
            <a:extLst>
              <a:ext uri="{FF2B5EF4-FFF2-40B4-BE49-F238E27FC236}">
                <a16:creationId xmlns:a16="http://schemas.microsoft.com/office/drawing/2014/main" id="{6C3B5862-B4BB-43DF-96FD-5F408DF6BEE5}"/>
              </a:ext>
            </a:extLst>
          </p:cNvPr>
          <p:cNvSpPr>
            <a:spLocks noGrp="1"/>
          </p:cNvSpPr>
          <p:nvPr/>
        </p:nvSpPr>
        <p:spPr>
          <a:xfrm>
            <a:off x="6762750" y="260032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6C637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6C6373"/>
                </a:solidFill>
                <a:latin typeface="Calibri"/>
                <a:ea typeface="Calibri"/>
                <a:cs typeface="Calibri"/>
              </a:rPr>
              <a:t>Desde app1/frontend</a:t>
            </a:r>
          </a:p>
        </p:txBody>
      </p:sp>
      <p:sp>
        <p:nvSpPr>
          <p:cNvPr id="11" name="texto-qcid6d-10">
            <a:extLst>
              <a:ext uri="{FF2B5EF4-FFF2-40B4-BE49-F238E27FC236}">
                <a16:creationId xmlns:a16="http://schemas.microsoft.com/office/drawing/2014/main" id="{11F98CA2-81D3-4DA2-B320-55502EF1CC11}"/>
              </a:ext>
            </a:extLst>
          </p:cNvPr>
          <p:cNvSpPr>
            <a:spLocks noGrp="1"/>
          </p:cNvSpPr>
          <p:nvPr/>
        </p:nvSpPr>
        <p:spPr>
          <a:xfrm>
            <a:off x="6762750" y="3257550"/>
            <a:ext cx="4524375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defRPr sz="2100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npm install</a:t>
            </a:r>
          </a:p>
          <a:p>
            <a:pPr>
              <a:defRPr sz="2100" b="0">
                <a:solidFill>
                  <a:srgbClr val="2923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92335"/>
                </a:solidFill>
                <a:latin typeface="Consolas"/>
                <a:ea typeface="Consolas"/>
                <a:cs typeface="Consolas"/>
              </a:rPr>
              <a:t>npm run dev</a:t>
            </a:r>
          </a:p>
        </p:txBody>
      </p:sp>
      <p:sp>
        <p:nvSpPr>
          <p:cNvPr id="12" name="texto-qcid6d-11">
            <a:extLst>
              <a:ext uri="{FF2B5EF4-FFF2-40B4-BE49-F238E27FC236}">
                <a16:creationId xmlns:a16="http://schemas.microsoft.com/office/drawing/2014/main" id="{506B36DA-0947-476B-9380-5193DDE03F37}"/>
              </a:ext>
            </a:extLst>
          </p:cNvPr>
          <p:cNvSpPr>
            <a:spLocks noGrp="1"/>
          </p:cNvSpPr>
          <p:nvPr/>
        </p:nvSpPr>
        <p:spPr>
          <a:xfrm>
            <a:off x="6762750" y="4705350"/>
            <a:ext cx="46672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Interfaz local en localhost:5173</a:t>
            </a:r>
          </a:p>
          <a:p>
            <a:pPr>
              <a:defRPr sz="1875" b="0">
                <a:solidFill>
                  <a:srgbClr val="29233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92335"/>
                </a:solidFill>
                <a:latin typeface="Calibri"/>
                <a:ea typeface="Calibri"/>
                <a:cs typeface="Calibri"/>
              </a:rPr>
              <a:t>Compilación: npm run build</a:t>
            </a:r>
          </a:p>
        </p:txBody>
      </p:sp>
    </p:spTree>
    <p:extLst>
      <p:ext uri="{BB962C8B-B14F-4D97-AF65-F5344CB8AC3E}">
        <p14:creationId xmlns:p14="http://schemas.microsoft.com/office/powerpoint/2010/main" val="16359846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o-59n84j-0">
            <a:extLst>
              <a:ext uri="{FF2B5EF4-FFF2-40B4-BE49-F238E27FC236}">
                <a16:creationId xmlns:a16="http://schemas.microsoft.com/office/drawing/2014/main" id="{8A331437-1C29-4D9C-B121-DBECE65FBAD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287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1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75" b="1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CDB6EA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2" name="texto-59n84j-1">
            <a:extLst>
              <a:ext uri="{FF2B5EF4-FFF2-40B4-BE49-F238E27FC236}">
                <a16:creationId xmlns:a16="http://schemas.microsoft.com/office/drawing/2014/main" id="{49FCE1F0-50ED-4B8E-9692-92178AE4E0DE}"/>
              </a:ext>
            </a:extLst>
          </p:cNvPr>
          <p:cNvSpPr>
            <a:spLocks noGrp="1"/>
          </p:cNvSpPr>
          <p:nvPr/>
        </p:nvSpPr>
        <p:spPr>
          <a:xfrm>
            <a:off x="609600" y="800100"/>
            <a:ext cx="1095375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3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Conclusiones</a:t>
            </a:r>
            <a:r>
              <a:rPr lang="es-ES" sz="33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endParaRPr sz="33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texto-59n84j-2">
            <a:extLst>
              <a:ext uri="{FF2B5EF4-FFF2-40B4-BE49-F238E27FC236}">
                <a16:creationId xmlns:a16="http://schemas.microsoft.com/office/drawing/2014/main" id="{1D91A981-B781-4BF2-94A0-33E30A9DC0F5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DB6EA"/>
                </a:solidFill>
                <a:latin typeface="Calibri"/>
                <a:ea typeface="Calibri"/>
                <a:cs typeface="Calibri"/>
              </a:rPr>
              <a:t>MeT / App 1</a:t>
            </a:r>
          </a:p>
        </p:txBody>
      </p:sp>
      <p:sp>
        <p:nvSpPr>
          <p:cNvPr id="4" name="texto-59n84j-3">
            <a:extLst>
              <a:ext uri="{FF2B5EF4-FFF2-40B4-BE49-F238E27FC236}">
                <a16:creationId xmlns:a16="http://schemas.microsoft.com/office/drawing/2014/main" id="{B5B6B50A-FBD0-4AFF-AA30-00EF8B8DB904}"/>
              </a:ext>
            </a:extLst>
          </p:cNvPr>
          <p:cNvSpPr>
            <a:spLocks noGrp="1"/>
          </p:cNvSpPr>
          <p:nvPr/>
        </p:nvSpPr>
        <p:spPr>
          <a:xfrm>
            <a:off x="11049000" y="6410325"/>
            <a:ext cx="4762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1200" b="0">
                <a:solidFill>
                  <a:srgbClr val="CDB6E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DB6EA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5" name="texto-59n84j-4">
            <a:extLst>
              <a:ext uri="{FF2B5EF4-FFF2-40B4-BE49-F238E27FC236}">
                <a16:creationId xmlns:a16="http://schemas.microsoft.com/office/drawing/2014/main" id="{4EEC6537-2B6D-45BF-90AB-44CAF8A919ED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75" b="1">
                <a:solidFill>
                  <a:srgbClr val="D7B98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075" b="1">
                <a:solidFill>
                  <a:srgbClr val="D7B98F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D7B98F"/>
                </a:solidFill>
                <a:latin typeface="Calibri"/>
                <a:ea typeface="Calibri"/>
                <a:cs typeface="Calibri"/>
              </a:rPr>
              <a:t>Una función concreta</a:t>
            </a:r>
          </a:p>
        </p:txBody>
      </p:sp>
      <p:sp>
        <p:nvSpPr>
          <p:cNvPr id="6" name="texto-59n84j-5">
            <a:extLst>
              <a:ext uri="{FF2B5EF4-FFF2-40B4-BE49-F238E27FC236}">
                <a16:creationId xmlns:a16="http://schemas.microsoft.com/office/drawing/2014/main" id="{42247E15-FA94-422B-86BD-BF3C5F9E514A}"/>
              </a:ext>
            </a:extLst>
          </p:cNvPr>
          <p:cNvSpPr>
            <a:spLocks noGrp="1"/>
          </p:cNvSpPr>
          <p:nvPr/>
        </p:nvSpPr>
        <p:spPr>
          <a:xfrm>
            <a:off x="609600" y="2771775"/>
            <a:ext cx="103822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2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Proponer combinaciones de encantamientos desde un único formulario.</a:t>
            </a:r>
          </a:p>
        </p:txBody>
      </p:sp>
      <p:sp>
        <p:nvSpPr>
          <p:cNvPr id="7" name="texto-59n84j-6">
            <a:extLst>
              <a:ext uri="{FF2B5EF4-FFF2-40B4-BE49-F238E27FC236}">
                <a16:creationId xmlns:a16="http://schemas.microsoft.com/office/drawing/2014/main" id="{26ACFE4F-F698-4A1A-B3C8-815247843EBF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75" b="1">
                <a:solidFill>
                  <a:srgbClr val="D7B98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3075" b="1">
                <a:solidFill>
                  <a:srgbClr val="D7B98F"/>
                </a:solidFill>
                <a:latin typeface="Calibri"/>
                <a:ea typeface="Calibri"/>
                <a:cs typeface="Calibri"/>
              </a:defRPr>
            </a:pPr>
            <a:r>
              <a:rPr sz="3075" b="1">
                <a:solidFill>
                  <a:srgbClr val="D7B98F"/>
                </a:solidFill>
                <a:latin typeface="Calibri"/>
                <a:ea typeface="Calibri"/>
                <a:cs typeface="Calibri"/>
              </a:rPr>
              <a:t>Un flujo comprobable</a:t>
            </a:r>
          </a:p>
        </p:txBody>
      </p:sp>
      <p:sp>
        <p:nvSpPr>
          <p:cNvPr id="8" name="texto-59n84j-7">
            <a:extLst>
              <a:ext uri="{FF2B5EF4-FFF2-40B4-BE49-F238E27FC236}">
                <a16:creationId xmlns:a16="http://schemas.microsoft.com/office/drawing/2014/main" id="{47DEC716-A2FB-4420-BB1A-0E709FA4752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3822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22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Contrato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validaciones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y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errores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probados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 mocks.</a:t>
            </a:r>
          </a:p>
          <a:p>
            <a:pPr>
              <a:defRPr sz="22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exactitud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del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cálculo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y la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evidencia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de IA real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requieren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revisión</a:t>
            </a:r>
            <a:r>
              <a:rPr sz="2250" b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4382114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1703</Words>
  <Application>Microsoft Office PowerPoint</Application>
  <DocSecurity>0</DocSecurity>
  <PresentationFormat>Widescreen</PresentationFormat>
  <Paragraphs>259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Hugo Pro</cp:lastModifiedBy>
  <cp:revision>1</cp:revision>
  <dcterms:created xsi:type="dcterms:W3CDTF">2026-10-13T08:31:14Z</dcterms:created>
  <dcterms:modified xsi:type="dcterms:W3CDTF">2026-10-15T11:35:07Z</dcterms:modified>
</cp:coreProperties>
</file>